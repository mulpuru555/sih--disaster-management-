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305" r:id="rId2"/>
    <p:sldId id="306" r:id="rId3"/>
    <p:sldId id="290" r:id="rId4"/>
    <p:sldId id="299" r:id="rId5"/>
    <p:sldId id="294" r:id="rId6"/>
    <p:sldId id="304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F31C8-E217-CF74-0FB9-B55F5F495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5BB54E8E-1C16-8D66-2A72-230563893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3565BD89-025C-2213-335E-64B873E4A9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2B1F5459-72FA-B06B-9D2E-BEB7D9724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64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76FBE-8ED2-5DEB-028B-76402674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84E34F8-8827-E2DC-0A38-F026CED23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29B2FCC-2AA1-151D-5B24-CA46E66AE5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205AEED-FC12-0516-B345-D26012A11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201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06027-067E-B3F8-5097-14FF15240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81C6AE41-AA11-52C4-99A6-CD07CDF2A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4903D2A-8333-63FB-9B33-5B7E1718C6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2556CE4-1D72-4D5A-2906-A14A53C0C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14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086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SIH26191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Intelligent Identification of Hazard-Based Red Zones, Carrying Capacity Assessment, and Immediate Relocation Needs for Vulnerable Habitations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ID- 142487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VU-BharatBytes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Leader: Mulpuru Jashwanth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Live Web App: https://sih-disaster-management-beige.vercel.app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Optimization API: https://sih-disaster-management-botb.onrender.com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GitHub: https://github.com/Mulpuru555/SIH--Disaster-Management-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649BB-B015-36C7-01D0-B759E9C7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CAAEE-FBF3-DF80-BEE5-11344CCB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5A9F6EB-6352-590C-DB79-0A76C0C1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F4F447-5D04-6E19-EC96-7589EA361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DCF95B5-75E3-B4AF-40D0-63B40F6E454F}"/>
              </a:ext>
            </a:extLst>
          </p:cNvPr>
          <p:cNvGrpSpPr/>
          <p:nvPr/>
        </p:nvGrpSpPr>
        <p:grpSpPr>
          <a:xfrm>
            <a:off x="426720" y="335959"/>
            <a:ext cx="11155680" cy="5983807"/>
            <a:chOff x="548640" y="228600"/>
            <a:chExt cx="11155680" cy="598380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3D3F83-4E91-A0DD-88B9-538C818BD73B}"/>
                </a:ext>
              </a:extLst>
            </p:cNvPr>
            <p:cNvSpPr txBox="1"/>
            <p:nvPr/>
          </p:nvSpPr>
          <p:spPr>
            <a:xfrm>
              <a:off x="2377440" y="228600"/>
              <a:ext cx="7498079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1B365D"/>
                  </a:solidFill>
                  <a:latin typeface="Times New Roman"/>
                </a:defRPr>
              </a:pPr>
              <a:r>
                <a:t>ResQGrid: AI-Powered Proactive Relocation Intelligence</a:t>
              </a:r>
              <a:br/>
              <a:r>
                <a:t>Revolutionizing India's Disaster Resilience</a:t>
              </a:r>
            </a:p>
          </p:txBody>
        </p:sp>
        <p:sp>
          <p:nvSpPr>
            <p:cNvPr id="9" name="Rounded Rectangle 7">
              <a:extLst>
                <a:ext uri="{FF2B5EF4-FFF2-40B4-BE49-F238E27FC236}">
                  <a16:creationId xmlns:a16="http://schemas.microsoft.com/office/drawing/2014/main" id="{CBBD270E-0769-840E-9878-DB3C664E2C90}"/>
                </a:ext>
              </a:extLst>
            </p:cNvPr>
            <p:cNvSpPr/>
            <p:nvPr/>
          </p:nvSpPr>
          <p:spPr>
            <a:xfrm>
              <a:off x="548640" y="1188720"/>
              <a:ext cx="3291840" cy="1417320"/>
            </a:xfrm>
            <a:prstGeom prst="roundRect">
              <a:avLst/>
            </a:prstGeom>
            <a:solidFill>
              <a:srgbClr val="2D37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DE047"/>
                  </a:solidFill>
                </a:rPr>
                <a:t>Real-world issue: </a:t>
              </a:r>
              <a:r>
                <a:rPr sz="950">
                  <a:solidFill>
                    <a:srgbClr val="FFFFFF"/>
                  </a:solidFill>
                </a:rPr>
                <a:t>Flash floods, landslides (Wayanad, Himachal), and unplanned evacuations cause massive casualties, shelter bottlenecks, and severe resource wastage.</a:t>
              </a:r>
            </a:p>
          </p:txBody>
        </p:sp>
        <p:sp>
          <p:nvSpPr>
            <p:cNvPr id="12" name="Rounded Rectangle 8">
              <a:extLst>
                <a:ext uri="{FF2B5EF4-FFF2-40B4-BE49-F238E27FC236}">
                  <a16:creationId xmlns:a16="http://schemas.microsoft.com/office/drawing/2014/main" id="{943DC68B-137B-3805-221A-0F79267F0413}"/>
                </a:ext>
              </a:extLst>
            </p:cNvPr>
            <p:cNvSpPr/>
            <p:nvPr/>
          </p:nvSpPr>
          <p:spPr>
            <a:xfrm>
              <a:off x="548640" y="2743200"/>
              <a:ext cx="3291840" cy="1417320"/>
            </a:xfrm>
            <a:prstGeom prst="roundRect">
              <a:avLst/>
            </a:prstGeom>
            <a:solidFill>
              <a:srgbClr val="2D37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DE047"/>
                  </a:solidFill>
                </a:rPr>
                <a:t>Why important: </a:t>
              </a:r>
              <a:r>
                <a:rPr sz="950">
                  <a:solidFill>
                    <a:srgbClr val="FFFFFF"/>
                  </a:solidFill>
                </a:rPr>
                <a:t>India loses ₹80,000+ crores annually to climate disasters; 30M+ people displaced in a decade. 85% of evacuation failures stem from blind shelter allocation &amp; road cutoffs.</a:t>
              </a:r>
            </a:p>
          </p:txBody>
        </p:sp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DE59D1B1-0887-8688-799D-9D77DF598CD5}"/>
                </a:ext>
              </a:extLst>
            </p:cNvPr>
            <p:cNvSpPr/>
            <p:nvPr/>
          </p:nvSpPr>
          <p:spPr>
            <a:xfrm>
              <a:off x="548640" y="4297680"/>
              <a:ext cx="3291840" cy="1234440"/>
            </a:xfrm>
            <a:prstGeom prst="roundRect">
              <a:avLst/>
            </a:prstGeom>
            <a:solidFill>
              <a:srgbClr val="2D37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000" b="1">
                  <a:solidFill>
                    <a:srgbClr val="FDE047"/>
                  </a:solidFill>
                </a:rPr>
                <a:t>Solution: </a:t>
              </a:r>
              <a:r>
                <a:rPr sz="950">
                  <a:solidFill>
                    <a:srgbClr val="FFFFFF"/>
                  </a:solidFill>
                </a:rPr>
                <a:t>GeoAI system identifies dynamic red zones, models shelter carrying capacity, and optimizes preemptive relocation for vulnerable citizens.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D6E3B4-D4AB-E2FA-0877-DF57ADBA33FE}"/>
                </a:ext>
              </a:extLst>
            </p:cNvPr>
            <p:cNvSpPr/>
            <p:nvPr/>
          </p:nvSpPr>
          <p:spPr>
            <a:xfrm>
              <a:off x="548640" y="5580665"/>
              <a:ext cx="3291840" cy="631742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0F172A"/>
                  </a:solidFill>
                </a:defRPr>
              </a:pPr>
              <a:r>
                <a:t>Prototype</a:t>
              </a:r>
            </a:p>
            <a:p>
              <a:r>
                <a:t>Live: sih-disaster-management-beige.vercel.app</a:t>
              </a:r>
            </a:p>
          </p:txBody>
        </p:sp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DD4F1353-8A3F-2376-9B6A-AC21A348572F}"/>
                </a:ext>
              </a:extLst>
            </p:cNvPr>
            <p:cNvSpPr/>
            <p:nvPr/>
          </p:nvSpPr>
          <p:spPr>
            <a:xfrm>
              <a:off x="4572000" y="1143000"/>
              <a:ext cx="3108960" cy="594360"/>
            </a:xfrm>
            <a:prstGeom prst="roundRect">
              <a:avLst/>
            </a:prstGeom>
            <a:solidFill>
              <a:srgbClr val="1B365D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FFFFFF"/>
                  </a:solidFill>
                </a:defRPr>
              </a:pPr>
              <a:r>
                <a:t>CORE INNOVATION</a:t>
              </a:r>
              <a:br/>
              <a:r>
                <a:t>GeoAI Relocation Decision Engine</a:t>
              </a:r>
            </a:p>
          </p:txBody>
        </p:sp>
        <p:sp>
          <p:nvSpPr>
            <p:cNvPr id="16" name="Rounded Rectangle 12">
              <a:extLst>
                <a:ext uri="{FF2B5EF4-FFF2-40B4-BE49-F238E27FC236}">
                  <a16:creationId xmlns:a16="http://schemas.microsoft.com/office/drawing/2014/main" id="{BAB210BF-7700-9F9C-FF9A-8DF7A894F4ED}"/>
                </a:ext>
              </a:extLst>
            </p:cNvPr>
            <p:cNvSpPr/>
            <p:nvPr/>
          </p:nvSpPr>
          <p:spPr>
            <a:xfrm>
              <a:off x="4023360" y="1828800"/>
              <a:ext cx="4206240" cy="685800"/>
            </a:xfrm>
            <a:prstGeom prst="roundRect">
              <a:avLst/>
            </a:prstGeom>
            <a:solidFill>
              <a:srgbClr val="2D3748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DE047"/>
                  </a:solidFill>
                </a:defRPr>
              </a:pPr>
              <a:r>
                <a:t>PRIMARY FUNCTIONS</a:t>
              </a:r>
              <a:br/>
              <a:r>
                <a:t>MULTI-HAZARD RED-ZONING  |  CAPACITY-CONSTRAINED ROUTING</a:t>
              </a:r>
            </a:p>
          </p:txBody>
        </p:sp>
        <p:sp>
          <p:nvSpPr>
            <p:cNvPr id="17" name="Rounded Rectangle 13">
              <a:extLst>
                <a:ext uri="{FF2B5EF4-FFF2-40B4-BE49-F238E27FC236}">
                  <a16:creationId xmlns:a16="http://schemas.microsoft.com/office/drawing/2014/main" id="{9C8AC12A-E093-9D1F-FD53-2050C5752E07}"/>
                </a:ext>
              </a:extLst>
            </p:cNvPr>
            <p:cNvSpPr/>
            <p:nvPr/>
          </p:nvSpPr>
          <p:spPr>
            <a:xfrm>
              <a:off x="4032504" y="2606040"/>
              <a:ext cx="4206240" cy="1325880"/>
            </a:xfrm>
            <a:prstGeom prst="roundRect">
              <a:avLst/>
            </a:prstGeom>
            <a:solidFill>
              <a:srgbClr val="F1F5F9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1B365D"/>
                  </a:solidFill>
                </a:defRPr>
              </a:pPr>
              <a:r>
                <a:rPr lang="en-US" dirty="0"/>
                <a:t>SAFETY &amp; VULNERABILITY COMPLIANCE</a:t>
              </a:r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dirty="0"/>
            </a:p>
          </p:txBody>
        </p:sp>
        <p:sp>
          <p:nvSpPr>
            <p:cNvPr id="18" name="Rounded Rectangle 14">
              <a:extLst>
                <a:ext uri="{FF2B5EF4-FFF2-40B4-BE49-F238E27FC236}">
                  <a16:creationId xmlns:a16="http://schemas.microsoft.com/office/drawing/2014/main" id="{8B83523F-86D1-6E87-07D8-2480FBD9273A}"/>
                </a:ext>
              </a:extLst>
            </p:cNvPr>
            <p:cNvSpPr/>
            <p:nvPr/>
          </p:nvSpPr>
          <p:spPr>
            <a:xfrm>
              <a:off x="4123944" y="2880360"/>
              <a:ext cx="1298448" cy="960120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EF4444"/>
                  </a:solidFill>
                </a:defRPr>
              </a:pPr>
              <a:r>
                <a:rPr dirty="0" err="1"/>
                <a:t>SoVI</a:t>
              </a:r>
              <a:r>
                <a:rPr dirty="0"/>
                <a:t> Vulnerability Index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rPr dirty="0"/>
                <a:t>Prioritizes elderly, disabled, infants &amp; kuccha houses</a:t>
              </a:r>
            </a:p>
          </p:txBody>
        </p:sp>
        <p:sp>
          <p:nvSpPr>
            <p:cNvPr id="19" name="Rounded Rectangle 15">
              <a:extLst>
                <a:ext uri="{FF2B5EF4-FFF2-40B4-BE49-F238E27FC236}">
                  <a16:creationId xmlns:a16="http://schemas.microsoft.com/office/drawing/2014/main" id="{60EDFD8B-0708-F96C-66D4-C1B07F53A6A1}"/>
                </a:ext>
              </a:extLst>
            </p:cNvPr>
            <p:cNvSpPr/>
            <p:nvPr/>
          </p:nvSpPr>
          <p:spPr>
            <a:xfrm>
              <a:off x="5468112" y="2880360"/>
              <a:ext cx="1298448" cy="960120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EF4444"/>
                  </a:solidFill>
                </a:defRPr>
              </a:pPr>
              <a:r>
                <a:t>Road Severance AI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Detects submerged roads &amp; landslides, routes convoys safely</a:t>
              </a:r>
            </a:p>
          </p:txBody>
        </p:sp>
        <p:sp>
          <p:nvSpPr>
            <p:cNvPr id="20" name="Rounded Rectangle 16">
              <a:extLst>
                <a:ext uri="{FF2B5EF4-FFF2-40B4-BE49-F238E27FC236}">
                  <a16:creationId xmlns:a16="http://schemas.microsoft.com/office/drawing/2014/main" id="{5D25A3BF-0747-EFD9-F3AC-E2EDCDE2AB23}"/>
                </a:ext>
              </a:extLst>
            </p:cNvPr>
            <p:cNvSpPr/>
            <p:nvPr/>
          </p:nvSpPr>
          <p:spPr>
            <a:xfrm>
              <a:off x="6821424" y="2880360"/>
              <a:ext cx="1298448" cy="960120"/>
            </a:xfrm>
            <a:prstGeom prst="roundRect">
              <a:avLst/>
            </a:prstGeom>
            <a:solidFill>
              <a:srgbClr val="FEF2F2"/>
            </a:solidFill>
            <a:ln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EF4444"/>
                  </a:solidFill>
                </a:defRPr>
              </a:pPr>
              <a:r>
                <a:t>Emergency Dispatch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One-click alert broadcast to SDMA, NDRF &amp; Aapda Mitra</a:t>
              </a:r>
            </a:p>
          </p:txBody>
        </p:sp>
        <p:sp>
          <p:nvSpPr>
            <p:cNvPr id="21" name="Rounded Rectangle 17">
              <a:extLst>
                <a:ext uri="{FF2B5EF4-FFF2-40B4-BE49-F238E27FC236}">
                  <a16:creationId xmlns:a16="http://schemas.microsoft.com/office/drawing/2014/main" id="{2401A999-77F1-4251-9F45-9598F0EF8BFB}"/>
                </a:ext>
              </a:extLst>
            </p:cNvPr>
            <p:cNvSpPr/>
            <p:nvPr/>
          </p:nvSpPr>
          <p:spPr>
            <a:xfrm>
              <a:off x="4041648" y="4023360"/>
              <a:ext cx="4206240" cy="1463040"/>
            </a:xfrm>
            <a:prstGeom prst="roundRect">
              <a:avLst/>
            </a:prstGeom>
            <a:solidFill>
              <a:srgbClr val="F1F5F9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1B365D"/>
                  </a:solidFill>
                </a:defRPr>
              </a:pPr>
              <a:r>
                <a:rPr dirty="0"/>
                <a:t>MONITORING &amp; CAPACITY SUPPORT</a:t>
              </a: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lang="en-US" dirty="0"/>
            </a:p>
            <a:p>
              <a:pPr algn="ctr">
                <a:defRPr sz="850" b="1">
                  <a:solidFill>
                    <a:srgbClr val="1B365D"/>
                  </a:solidFill>
                </a:defRPr>
              </a:pPr>
              <a:endParaRPr dirty="0"/>
            </a:p>
          </p:txBody>
        </p:sp>
        <p:sp>
          <p:nvSpPr>
            <p:cNvPr id="22" name="Rounded Rectangle 18">
              <a:extLst>
                <a:ext uri="{FF2B5EF4-FFF2-40B4-BE49-F238E27FC236}">
                  <a16:creationId xmlns:a16="http://schemas.microsoft.com/office/drawing/2014/main" id="{1A15BF3C-A11D-79D1-E8D6-7E4F36404911}"/>
                </a:ext>
              </a:extLst>
            </p:cNvPr>
            <p:cNvSpPr/>
            <p:nvPr/>
          </p:nvSpPr>
          <p:spPr>
            <a:xfrm>
              <a:off x="4114800" y="4297680"/>
              <a:ext cx="1298448" cy="105156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16A34A"/>
                  </a:solidFill>
                </a:defRPr>
              </a:pPr>
              <a:r>
                <a:t>Carrying Capacity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Live tracking of beds, water, food &amp; sanitation limits</a:t>
              </a:r>
            </a:p>
          </p:txBody>
        </p:sp>
        <p:sp>
          <p:nvSpPr>
            <p:cNvPr id="23" name="Rounded Rectangle 19">
              <a:extLst>
                <a:ext uri="{FF2B5EF4-FFF2-40B4-BE49-F238E27FC236}">
                  <a16:creationId xmlns:a16="http://schemas.microsoft.com/office/drawing/2014/main" id="{DFD850C7-98B5-AAAC-848F-AE689A0919CE}"/>
                </a:ext>
              </a:extLst>
            </p:cNvPr>
            <p:cNvSpPr/>
            <p:nvPr/>
          </p:nvSpPr>
          <p:spPr>
            <a:xfrm>
              <a:off x="5468112" y="4297680"/>
              <a:ext cx="1298448" cy="105156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16A34A"/>
                  </a:solidFill>
                </a:defRPr>
              </a:pPr>
              <a:r>
                <a:t>What-If Simulation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Simulates dam burst &amp; rainfall escalation scenarios</a:t>
              </a:r>
            </a:p>
          </p:txBody>
        </p:sp>
        <p:sp>
          <p:nvSpPr>
            <p:cNvPr id="24" name="Rounded Rectangle 20">
              <a:extLst>
                <a:ext uri="{FF2B5EF4-FFF2-40B4-BE49-F238E27FC236}">
                  <a16:creationId xmlns:a16="http://schemas.microsoft.com/office/drawing/2014/main" id="{29192469-DEEE-9A16-4BF7-7565628BC619}"/>
                </a:ext>
              </a:extLst>
            </p:cNvPr>
            <p:cNvSpPr/>
            <p:nvPr/>
          </p:nvSpPr>
          <p:spPr>
            <a:xfrm>
              <a:off x="6821424" y="4297680"/>
              <a:ext cx="1298448" cy="1051560"/>
            </a:xfrm>
            <a:prstGeom prst="roundRect">
              <a:avLst/>
            </a:prstGeom>
            <a:solidFill>
              <a:srgbClr val="F0FDF4"/>
            </a:solidFill>
            <a:ln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750" b="1">
                  <a:solidFill>
                    <a:srgbClr val="16A34A"/>
                  </a:solidFill>
                </a:defRPr>
              </a:pPr>
              <a:r>
                <a:t>Explainable AI (XAI)</a:t>
              </a:r>
            </a:p>
            <a:p>
              <a:pPr>
                <a:defRPr sz="650">
                  <a:solidFill>
                    <a:srgbClr val="0F172A"/>
                  </a:solidFill>
                </a:defRPr>
              </a:pPr>
              <a:r>
                <a:t>SHAP transparency for District Magistrate approvals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07B3A3-74D0-04A4-56E7-E2058EAE120C}"/>
                </a:ext>
              </a:extLst>
            </p:cNvPr>
            <p:cNvSpPr txBox="1"/>
            <p:nvPr/>
          </p:nvSpPr>
          <p:spPr>
            <a:xfrm>
              <a:off x="8412480" y="1005840"/>
              <a:ext cx="3291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>
                  <a:solidFill>
                    <a:srgbClr val="EF4444"/>
                  </a:solidFill>
                </a:rPr>
                <a:t>Risk  </a:t>
              </a:r>
              <a:r>
                <a:rPr sz="900">
                  <a:solidFill>
                    <a:srgbClr val="64748B"/>
                  </a:solidFill>
                </a:rPr>
                <a:t>v  </a:t>
              </a:r>
              <a:r>
                <a:rPr sz="1100" b="1">
                  <a:solidFill>
                    <a:srgbClr val="16A34A"/>
                  </a:solidFill>
                </a:rPr>
                <a:t>Solution</a:t>
              </a:r>
            </a:p>
          </p:txBody>
        </p:sp>
        <p:sp>
          <p:nvSpPr>
            <p:cNvPr id="27" name="Rounded Rectangle 23">
              <a:extLst>
                <a:ext uri="{FF2B5EF4-FFF2-40B4-BE49-F238E27FC236}">
                  <a16:creationId xmlns:a16="http://schemas.microsoft.com/office/drawing/2014/main" id="{EF12F81D-2CDD-A72E-C1B3-ABBFD9D34C4A}"/>
                </a:ext>
              </a:extLst>
            </p:cNvPr>
            <p:cNvSpPr/>
            <p:nvPr/>
          </p:nvSpPr>
          <p:spPr>
            <a:xfrm>
              <a:off x="8412480" y="1371600"/>
              <a:ext cx="1508760" cy="685800"/>
            </a:xfrm>
            <a:prstGeom prst="roundRect">
              <a:avLst/>
            </a:prstGeom>
            <a:solidFill>
              <a:srgbClr val="EF44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Chaotic Relocation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610D46-9068-1F82-7322-9C36349CB741}"/>
                </a:ext>
              </a:extLst>
            </p:cNvPr>
            <p:cNvSpPr txBox="1"/>
            <p:nvPr/>
          </p:nvSpPr>
          <p:spPr>
            <a:xfrm>
              <a:off x="9921240" y="1371600"/>
              <a:ext cx="274320" cy="685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0F172A"/>
                  </a:solidFill>
                </a:defRPr>
              </a:pPr>
              <a:r>
                <a:t>➔</a:t>
              </a:r>
            </a:p>
          </p:txBody>
        </p:sp>
        <p:sp>
          <p:nvSpPr>
            <p:cNvPr id="29" name="Rounded Rectangle 25">
              <a:extLst>
                <a:ext uri="{FF2B5EF4-FFF2-40B4-BE49-F238E27FC236}">
                  <a16:creationId xmlns:a16="http://schemas.microsoft.com/office/drawing/2014/main" id="{DE2FB757-14DF-4EDD-8A96-7331C833AC66}"/>
                </a:ext>
              </a:extLst>
            </p:cNvPr>
            <p:cNvSpPr/>
            <p:nvPr/>
          </p:nvSpPr>
          <p:spPr>
            <a:xfrm>
              <a:off x="10195559" y="1371600"/>
              <a:ext cx="1508760" cy="685800"/>
            </a:xfrm>
            <a:prstGeom prst="roundRect">
              <a:avLst/>
            </a:prstGeom>
            <a:solidFill>
              <a:srgbClr val="16A3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Capacity-Aware Relocation</a:t>
              </a:r>
            </a:p>
          </p:txBody>
        </p:sp>
        <p:sp>
          <p:nvSpPr>
            <p:cNvPr id="30" name="Rounded Rectangle 26">
              <a:extLst>
                <a:ext uri="{FF2B5EF4-FFF2-40B4-BE49-F238E27FC236}">
                  <a16:creationId xmlns:a16="http://schemas.microsoft.com/office/drawing/2014/main" id="{7DEDEC27-E910-F904-D88B-BB5A5E2AAC16}"/>
                </a:ext>
              </a:extLst>
            </p:cNvPr>
            <p:cNvSpPr/>
            <p:nvPr/>
          </p:nvSpPr>
          <p:spPr>
            <a:xfrm>
              <a:off x="8412480" y="2286000"/>
              <a:ext cx="1508760" cy="685800"/>
            </a:xfrm>
            <a:prstGeom prst="roundRect">
              <a:avLst/>
            </a:prstGeom>
            <a:solidFill>
              <a:srgbClr val="EF44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Shelter Overcrowding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D591DE4-F028-C2AD-B8D1-26160D6EF545}"/>
                </a:ext>
              </a:extLst>
            </p:cNvPr>
            <p:cNvSpPr txBox="1"/>
            <p:nvPr/>
          </p:nvSpPr>
          <p:spPr>
            <a:xfrm>
              <a:off x="9921240" y="2286000"/>
              <a:ext cx="274320" cy="685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0F172A"/>
                  </a:solidFill>
                </a:defRPr>
              </a:pPr>
              <a:r>
                <a:t>➔</a:t>
              </a:r>
            </a:p>
          </p:txBody>
        </p:sp>
        <p:sp>
          <p:nvSpPr>
            <p:cNvPr id="32" name="Rounded Rectangle 28">
              <a:extLst>
                <a:ext uri="{FF2B5EF4-FFF2-40B4-BE49-F238E27FC236}">
                  <a16:creationId xmlns:a16="http://schemas.microsoft.com/office/drawing/2014/main" id="{3D49572A-43A4-9749-6DF1-E7A1B692E78F}"/>
                </a:ext>
              </a:extLst>
            </p:cNvPr>
            <p:cNvSpPr/>
            <p:nvPr/>
          </p:nvSpPr>
          <p:spPr>
            <a:xfrm>
              <a:off x="10195559" y="2286000"/>
              <a:ext cx="1508760" cy="685800"/>
            </a:xfrm>
            <a:prstGeom prst="roundRect">
              <a:avLst/>
            </a:prstGeom>
            <a:solidFill>
              <a:srgbClr val="16A3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Dynamic Carrying Capacity</a:t>
              </a:r>
            </a:p>
          </p:txBody>
        </p:sp>
        <p:sp>
          <p:nvSpPr>
            <p:cNvPr id="33" name="Rounded Rectangle 29">
              <a:extLst>
                <a:ext uri="{FF2B5EF4-FFF2-40B4-BE49-F238E27FC236}">
                  <a16:creationId xmlns:a16="http://schemas.microsoft.com/office/drawing/2014/main" id="{9AC75B49-1FC2-EEE9-081C-6FC6B81BBD55}"/>
                </a:ext>
              </a:extLst>
            </p:cNvPr>
            <p:cNvSpPr/>
            <p:nvPr/>
          </p:nvSpPr>
          <p:spPr>
            <a:xfrm>
              <a:off x="8412480" y="3200400"/>
              <a:ext cx="1508760" cy="685800"/>
            </a:xfrm>
            <a:prstGeom prst="roundRect">
              <a:avLst/>
            </a:prstGeom>
            <a:solidFill>
              <a:srgbClr val="EF44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Black-Box AI Distrust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EADFA70-136C-A0E4-EBC7-CA48B2185FB9}"/>
                </a:ext>
              </a:extLst>
            </p:cNvPr>
            <p:cNvSpPr txBox="1"/>
            <p:nvPr/>
          </p:nvSpPr>
          <p:spPr>
            <a:xfrm>
              <a:off x="9921240" y="3200400"/>
              <a:ext cx="274320" cy="6858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200">
                  <a:solidFill>
                    <a:srgbClr val="0F172A"/>
                  </a:solidFill>
                </a:defRPr>
              </a:pPr>
              <a:r>
                <a:t>➔</a:t>
              </a:r>
            </a:p>
          </p:txBody>
        </p:sp>
        <p:sp>
          <p:nvSpPr>
            <p:cNvPr id="35" name="Rounded Rectangle 31">
              <a:extLst>
                <a:ext uri="{FF2B5EF4-FFF2-40B4-BE49-F238E27FC236}">
                  <a16:creationId xmlns:a16="http://schemas.microsoft.com/office/drawing/2014/main" id="{93D2F6CB-B548-2688-60BF-80B763C23D8F}"/>
                </a:ext>
              </a:extLst>
            </p:cNvPr>
            <p:cNvSpPr/>
            <p:nvPr/>
          </p:nvSpPr>
          <p:spPr>
            <a:xfrm>
              <a:off x="10195559" y="3200400"/>
              <a:ext cx="1508760" cy="685800"/>
            </a:xfrm>
            <a:prstGeom prst="roundRect">
              <a:avLst/>
            </a:prstGeom>
            <a:solidFill>
              <a:srgbClr val="16A3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850" b="1">
                  <a:solidFill>
                    <a:srgbClr val="FFFFFF"/>
                  </a:solidFill>
                </a:defRPr>
              </a:pPr>
              <a:r>
                <a:t>Explainable AI (SHAP Metrics)</a:t>
              </a:r>
            </a:p>
          </p:txBody>
        </p:sp>
        <p:sp>
          <p:nvSpPr>
            <p:cNvPr id="36" name="Rounded Rectangle 32">
              <a:extLst>
                <a:ext uri="{FF2B5EF4-FFF2-40B4-BE49-F238E27FC236}">
                  <a16:creationId xmlns:a16="http://schemas.microsoft.com/office/drawing/2014/main" id="{510A31B6-FAF5-78EC-3DA0-C8452234E845}"/>
                </a:ext>
              </a:extLst>
            </p:cNvPr>
            <p:cNvSpPr/>
            <p:nvPr/>
          </p:nvSpPr>
          <p:spPr>
            <a:xfrm>
              <a:off x="8412480" y="4297680"/>
              <a:ext cx="3291840" cy="1828800"/>
            </a:xfrm>
            <a:prstGeom prst="roundRect">
              <a:avLst/>
            </a:prstGeom>
            <a:solidFill>
              <a:srgbClr val="F8FAFC"/>
            </a:solidFill>
            <a:ln>
              <a:solidFill>
                <a:srgbClr val="1B36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r>
                <a:rPr dirty="0"/>
                <a:t>⚡ VERIFIED LIVE OPERATIONAL BENCHMARK (AP PILOT)</a:t>
              </a:r>
            </a:p>
            <a:p>
              <a:r>
                <a:rPr dirty="0"/>
                <a:t>• Critical Habitats: Vizag Fishing Harbour (2.8k) &amp; Anakapalle Sarada Basin (2.3k) -&gt; 5,100 At Risk (RED ZONE) | 100% Demand Met in 5.4 ms</a:t>
              </a:r>
              <a:br>
                <a:rPr dirty="0"/>
              </a:br>
              <a:r>
                <a:rPr dirty="0"/>
                <a:t>• Verified Shelters: AU Indoor Stadium (3.2k beds) &amp; Anakapalle Polytechnic (2.6k beds) -&gt; 5,800 Safe Capacity | ZERO Shelter Overflow</a:t>
              </a:r>
              <a:br>
                <a:rPr dirty="0"/>
              </a:br>
              <a:r>
                <a:rPr dirty="0"/>
                <a:t>• Long-Term Horizon: 190 Ha NDMF Tableland Bank -&gt; 27,000 Citizens Resettled Permanently (&lt;8° Slope, Zero Landslide Risk)</a:t>
              </a:r>
            </a:p>
          </p:txBody>
        </p:sp>
      </p:grpSp>
      <p:sp>
        <p:nvSpPr>
          <p:cNvPr id="38" name="Oval 37" descr="Your startup LOGO">
            <a:extLst>
              <a:ext uri="{FF2B5EF4-FFF2-40B4-BE49-F238E27FC236}">
                <a16:creationId xmlns:a16="http://schemas.microsoft.com/office/drawing/2014/main" id="{1007224E-9BE8-0EEF-05AE-F7854F451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26A6C8-6D72-AB1E-C5EF-432024371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1" name="Footer Placeholder 6">
            <a:extLst>
              <a:ext uri="{FF2B5EF4-FFF2-40B4-BE49-F238E27FC236}">
                <a16:creationId xmlns:a16="http://schemas.microsoft.com/office/drawing/2014/main" id="{90CD0630-BCEC-7632-75DD-690E7066BB04}"/>
              </a:ext>
            </a:extLst>
          </p:cNvPr>
          <p:cNvSpPr txBox="1">
            <a:spLocks/>
          </p:cNvSpPr>
          <p:nvPr/>
        </p:nvSpPr>
        <p:spPr>
          <a:xfrm>
            <a:off x="4800600" y="65087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29EF8023-62F3-776A-E431-CCA9EFB81BE9}"/>
              </a:ext>
            </a:extLst>
          </p:cNvPr>
          <p:cNvSpPr txBox="1">
            <a:spLocks/>
          </p:cNvSpPr>
          <p:nvPr/>
        </p:nvSpPr>
        <p:spPr>
          <a:xfrm>
            <a:off x="8890000" y="65087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9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000">
                <a:solidFill>
                  <a:srgbClr val="FFFFFF"/>
                </a:solidFill>
                <a:latin typeface="Aptos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75A2407-25F1-C089-932E-DE9DF5436692}"/>
              </a:ext>
            </a:extLst>
          </p:cNvPr>
          <p:cNvGrpSpPr/>
          <p:nvPr/>
        </p:nvGrpSpPr>
        <p:grpSpPr>
          <a:xfrm>
            <a:off x="426720" y="1097280"/>
            <a:ext cx="11155680" cy="5029200"/>
            <a:chOff x="548640" y="1097280"/>
            <a:chExt cx="11155680" cy="50292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369A79-B24E-EB59-26AC-7AB10C81D6E5}"/>
                </a:ext>
              </a:extLst>
            </p:cNvPr>
            <p:cNvSpPr txBox="1"/>
            <p:nvPr/>
          </p:nvSpPr>
          <p:spPr>
            <a:xfrm>
              <a:off x="548640" y="109728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B365D"/>
                  </a:solidFill>
                  <a:latin typeface="Calibri"/>
                </a:defRPr>
              </a:pPr>
              <a:r>
                <a:t>METHODOLOGY &amp; PROCESS OF</a:t>
              </a:r>
              <a:br/>
              <a:r>
                <a:t>IMPLEMENTATION</a:t>
              </a:r>
            </a:p>
          </p:txBody>
        </p:sp>
        <p:sp>
          <p:nvSpPr>
            <p:cNvPr id="10" name="Rounded Rectangle 8">
              <a:extLst>
                <a:ext uri="{FF2B5EF4-FFF2-40B4-BE49-F238E27FC236}">
                  <a16:creationId xmlns:a16="http://schemas.microsoft.com/office/drawing/2014/main" id="{54582AC1-F96A-2967-1CA5-1169E5B86AAB}"/>
                </a:ext>
              </a:extLst>
            </p:cNvPr>
            <p:cNvSpPr/>
            <p:nvPr/>
          </p:nvSpPr>
          <p:spPr>
            <a:xfrm>
              <a:off x="548640" y="173736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3B82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3B82F6"/>
                  </a:solidFill>
                </a:defRPr>
              </a:pPr>
              <a:r>
                <a:rPr dirty="0"/>
                <a:t>1. Data Ingestion &amp; Raster Prep</a:t>
              </a:r>
            </a:p>
            <a:p>
              <a:r>
                <a:rPr dirty="0"/>
                <a:t>ISRO Bhuvan CartoDEM (10m), Sentinel-2 (MNDWI Flood Mask), IMD AWS &amp; Open-Meteo live telemetry.</a:t>
              </a:r>
            </a:p>
          </p:txBody>
        </p:sp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DB74C8E6-B5EB-DFA4-8069-57A078899516}"/>
                </a:ext>
              </a:extLst>
            </p:cNvPr>
            <p:cNvSpPr/>
            <p:nvPr/>
          </p:nvSpPr>
          <p:spPr>
            <a:xfrm>
              <a:off x="548640" y="246888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EF44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EF4444"/>
                  </a:solidFill>
                </a:defRPr>
              </a:pPr>
              <a:r>
                <a:t>2. Dynamic GeoAI Red-Zone</a:t>
              </a:r>
            </a:p>
            <a:p>
              <a:r>
                <a:t>XGBoost gradient-boosted trees model slope shear &amp; inundation thresholds in &lt;1ms with TreeSHAP XAI.</a:t>
              </a:r>
            </a:p>
          </p:txBody>
        </p:sp>
        <p:sp>
          <p:nvSpPr>
            <p:cNvPr id="14" name="Rounded Rectangle 10">
              <a:extLst>
                <a:ext uri="{FF2B5EF4-FFF2-40B4-BE49-F238E27FC236}">
                  <a16:creationId xmlns:a16="http://schemas.microsoft.com/office/drawing/2014/main" id="{0DCD7514-1EA2-7918-0B83-223CD0DC1503}"/>
                </a:ext>
              </a:extLst>
            </p:cNvPr>
            <p:cNvSpPr/>
            <p:nvPr/>
          </p:nvSpPr>
          <p:spPr>
            <a:xfrm>
              <a:off x="548640" y="320040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D9770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D97706"/>
                  </a:solidFill>
                </a:defRPr>
              </a:pPr>
              <a:r>
                <a:t>3. Vulnerability Score (SoVI)</a:t>
              </a:r>
            </a:p>
            <a:p>
              <a:r>
                <a:t>Demographic layer (infants, elderly, PwD, kutcha units) cross-referenced with PDS &amp; C-DOT CAP VLR.</a:t>
              </a:r>
            </a:p>
          </p:txBody>
        </p:sp>
        <p:sp>
          <p:nvSpPr>
            <p:cNvPr id="15" name="Rounded Rectangle 11">
              <a:extLst>
                <a:ext uri="{FF2B5EF4-FFF2-40B4-BE49-F238E27FC236}">
                  <a16:creationId xmlns:a16="http://schemas.microsoft.com/office/drawing/2014/main" id="{E727BB64-2162-A2DF-1039-7FAF3FA02EF3}"/>
                </a:ext>
              </a:extLst>
            </p:cNvPr>
            <p:cNvSpPr/>
            <p:nvPr/>
          </p:nvSpPr>
          <p:spPr>
            <a:xfrm>
              <a:off x="548640" y="393192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16A3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16A34A"/>
                  </a:solidFill>
                </a:defRPr>
              </a:pPr>
              <a:r>
                <a:t>4. Carrying Capacity Modeling</a:t>
              </a:r>
            </a:p>
            <a:p>
              <a:r>
                <a:t>SPHERE standard audit: 3.5m² living space, 15L water/day, 1 toilet/20 persons, tracking bottleneck resource.</a:t>
              </a:r>
            </a:p>
          </p:txBody>
        </p:sp>
        <p:sp>
          <p:nvSpPr>
            <p:cNvPr id="16" name="Rounded Rectangle 12">
              <a:extLst>
                <a:ext uri="{FF2B5EF4-FFF2-40B4-BE49-F238E27FC236}">
                  <a16:creationId xmlns:a16="http://schemas.microsoft.com/office/drawing/2014/main" id="{591EBF7F-24A9-863A-AA50-6FEDF941B7CF}"/>
                </a:ext>
              </a:extLst>
            </p:cNvPr>
            <p:cNvSpPr/>
            <p:nvPr/>
          </p:nvSpPr>
          <p:spPr>
            <a:xfrm>
              <a:off x="548640" y="4663440"/>
              <a:ext cx="3657600" cy="658368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A855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50" b="1">
                  <a:solidFill>
                    <a:srgbClr val="A855F7"/>
                  </a:solidFill>
                </a:defRPr>
              </a:pPr>
              <a:r>
                <a:t>5. Capacity-Constrained Opt.</a:t>
              </a:r>
            </a:p>
            <a:p>
              <a:r>
                <a:t>PuLP &amp; Google OR-Tools MILP solves zero-overflow routing in 5.4ms with dynamic road severance.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8969624-1FC8-9B0F-2A98-273376118351}"/>
                </a:ext>
              </a:extLst>
            </p:cNvPr>
            <p:cNvSpPr/>
            <p:nvPr/>
          </p:nvSpPr>
          <p:spPr>
            <a:xfrm>
              <a:off x="1005840" y="5486400"/>
              <a:ext cx="2743200" cy="640080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/>
              </a:pPr>
              <a:r>
                <a:t>Detailed Report</a:t>
              </a:r>
            </a:p>
            <a:p>
              <a:r>
                <a:t>API Docs: onrender.com/docs</a:t>
              </a:r>
            </a:p>
          </p:txBody>
        </p:sp>
        <p:sp>
          <p:nvSpPr>
            <p:cNvPr id="18" name="Rounded Rectangle 14">
              <a:extLst>
                <a:ext uri="{FF2B5EF4-FFF2-40B4-BE49-F238E27FC236}">
                  <a16:creationId xmlns:a16="http://schemas.microsoft.com/office/drawing/2014/main" id="{003C1B10-3945-A22B-D6C4-27A74A3908FA}"/>
                </a:ext>
              </a:extLst>
            </p:cNvPr>
            <p:cNvSpPr/>
            <p:nvPr/>
          </p:nvSpPr>
          <p:spPr>
            <a:xfrm>
              <a:off x="4389120" y="1188720"/>
              <a:ext cx="3840480" cy="4937760"/>
            </a:xfrm>
            <a:prstGeom prst="roundRect">
              <a:avLst/>
            </a:prstGeom>
            <a:solidFill>
              <a:srgbClr val="F1F5F9"/>
            </a:solidFill>
            <a:ln>
              <a:solidFill>
                <a:srgbClr val="CBD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50" b="1">
                  <a:solidFill>
                    <a:srgbClr val="1B365D"/>
                  </a:solidFill>
                </a:defRPr>
              </a:pPr>
              <a:r>
                <a:rPr sz="1400" dirty="0"/>
                <a:t>SYSTEM ARCHITECTURE &amp; PIPELINE</a:t>
              </a:r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🛰️ DATA FEEDS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/>
                <a:t>ISRO Bhuvan • Sentinel-2 • IMD AWS • OpenStreetMap</a:t>
              </a:r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🤖 GEOAI &amp; VULNERABILITY LAYER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 err="1"/>
                <a:t>GeoPandas</a:t>
              </a:r>
              <a:r>
                <a:rPr sz="1000" dirty="0"/>
                <a:t> / </a:t>
              </a:r>
              <a:r>
                <a:rPr sz="1000" dirty="0" err="1"/>
                <a:t>PostGIS</a:t>
              </a:r>
              <a:r>
                <a:rPr sz="1000" dirty="0"/>
                <a:t> • </a:t>
              </a:r>
              <a:r>
                <a:rPr sz="1000" dirty="0" err="1"/>
                <a:t>XGBoost</a:t>
              </a:r>
              <a:r>
                <a:rPr sz="1000" dirty="0"/>
                <a:t> Multi-Hazard • Demographic </a:t>
              </a:r>
              <a:r>
                <a:rPr sz="1000" dirty="0" err="1"/>
                <a:t>SoVI</a:t>
              </a:r>
              <a:endParaRPr sz="1000" dirty="0"/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⚡ OPTIMIZATION ENGINE (MILP)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/>
                <a:t>Google OR-Tools • Capacity Constraints • </a:t>
              </a:r>
              <a:r>
                <a:rPr sz="1000" dirty="0" err="1"/>
                <a:t>OSMNx</a:t>
              </a:r>
              <a:r>
                <a:rPr sz="1000" dirty="0"/>
                <a:t> Distance Matrix</a:t>
              </a:r>
            </a:p>
            <a:p>
              <a:pPr>
                <a:spcBef>
                  <a:spcPts val="800"/>
                </a:spcBef>
                <a:defRPr sz="850" b="1">
                  <a:solidFill>
                    <a:srgbClr val="1B365D"/>
                  </a:solidFill>
                </a:defRPr>
              </a:pPr>
              <a:r>
                <a:rPr sz="1050" dirty="0"/>
                <a:t>📊 COMMAND GIS &amp; DISPATCH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rPr sz="1000" dirty="0" err="1"/>
                <a:t>FastAPI</a:t>
              </a:r>
              <a:r>
                <a:rPr sz="1000" dirty="0"/>
                <a:t> Cloud Backend • React + Leaflet GIS • Field Mobile App</a:t>
              </a:r>
            </a:p>
            <a:p>
              <a:pPr>
                <a:spcBef>
                  <a:spcPts val="1000"/>
                </a:spcBef>
                <a:defRPr sz="800" b="1">
                  <a:solidFill>
                    <a:srgbClr val="D97706"/>
                  </a:solidFill>
                </a:defRPr>
              </a:pPr>
              <a:r>
                <a:rPr sz="1050" dirty="0"/>
                <a:t>📐 Linear Optimization Formulation:</a:t>
              </a:r>
              <a:br>
                <a:rPr sz="1050" dirty="0"/>
              </a:br>
              <a:r>
                <a:rPr sz="1050" dirty="0"/>
                <a:t>Minimize: Sum(</a:t>
              </a:r>
              <a:r>
                <a:rPr sz="1050" dirty="0" err="1"/>
                <a:t>x_ij</a:t>
              </a:r>
              <a:r>
                <a:rPr sz="1050" dirty="0"/>
                <a:t> * </a:t>
              </a:r>
              <a:r>
                <a:rPr sz="1050" dirty="0" err="1"/>
                <a:t>Dist_ij</a:t>
              </a:r>
              <a:r>
                <a:rPr sz="1050" dirty="0"/>
                <a:t> * </a:t>
              </a:r>
              <a:r>
                <a:rPr sz="1050" dirty="0" err="1"/>
                <a:t>Risk_i</a:t>
              </a:r>
              <a:r>
                <a:rPr sz="1050" dirty="0"/>
                <a:t>)</a:t>
              </a:r>
              <a:br>
                <a:rPr sz="1050" dirty="0"/>
              </a:br>
              <a:r>
                <a:rPr sz="1050" dirty="0"/>
                <a:t>Subject to: </a:t>
              </a:r>
              <a:r>
                <a:rPr sz="1050" dirty="0" err="1"/>
                <a:t>Sum_i</a:t>
              </a:r>
              <a:r>
                <a:rPr sz="1050" dirty="0"/>
                <a:t>(</a:t>
              </a:r>
              <a:r>
                <a:rPr sz="1050" dirty="0" err="1"/>
                <a:t>x_ij</a:t>
              </a:r>
              <a:r>
                <a:rPr sz="1050" dirty="0"/>
                <a:t>) &lt;= </a:t>
              </a:r>
              <a:r>
                <a:rPr sz="1050" dirty="0" err="1"/>
                <a:t>Capacity_j</a:t>
              </a:r>
              <a:r>
                <a:rPr sz="1050" dirty="0"/>
                <a:t>  (Zero Overflow)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0B263F-F3C0-6FE4-0EC7-8B0BE8C2749E}"/>
                </a:ext>
              </a:extLst>
            </p:cNvPr>
            <p:cNvSpPr txBox="1"/>
            <p:nvPr/>
          </p:nvSpPr>
          <p:spPr>
            <a:xfrm>
              <a:off x="8412480" y="1097280"/>
              <a:ext cx="3291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B365D"/>
                  </a:solidFill>
                  <a:latin typeface="Calibri"/>
                </a:defRPr>
              </a:pPr>
              <a:r>
                <a:t>TECHNOLOGIES USED</a:t>
              </a:r>
            </a:p>
          </p:txBody>
        </p:sp>
        <p:sp>
          <p:nvSpPr>
            <p:cNvPr id="20" name="Rounded Rectangle 16">
              <a:extLst>
                <a:ext uri="{FF2B5EF4-FFF2-40B4-BE49-F238E27FC236}">
                  <a16:creationId xmlns:a16="http://schemas.microsoft.com/office/drawing/2014/main" id="{235E6DD6-AF59-696B-B84B-E1BCA1186D7D}"/>
                </a:ext>
              </a:extLst>
            </p:cNvPr>
            <p:cNvSpPr/>
            <p:nvPr/>
          </p:nvSpPr>
          <p:spPr>
            <a:xfrm>
              <a:off x="8412480" y="15544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1665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66534"/>
                  </a:solidFill>
                </a:defRPr>
              </a:pPr>
              <a:r>
                <a:t>FrontEnd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React and TailwindCSS are used for the frontend GIS dashboard.</a:t>
              </a:r>
            </a:p>
          </p:txBody>
        </p:sp>
        <p:sp>
          <p:nvSpPr>
            <p:cNvPr id="21" name="Rounded Rectangle 17">
              <a:extLst>
                <a:ext uri="{FF2B5EF4-FFF2-40B4-BE49-F238E27FC236}">
                  <a16:creationId xmlns:a16="http://schemas.microsoft.com/office/drawing/2014/main" id="{DBA85D96-5AC3-C0A9-C36D-14F64B66807D}"/>
                </a:ext>
              </a:extLst>
            </p:cNvPr>
            <p:cNvSpPr/>
            <p:nvPr/>
          </p:nvSpPr>
          <p:spPr>
            <a:xfrm>
              <a:off x="8412480" y="24688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B4530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B45309"/>
                  </a:solidFill>
                </a:defRPr>
              </a:pPr>
              <a:r>
                <a:t>BackEnd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FastAPI, GeoPandas &amp; PostGIS are used for spatial data processing.</a:t>
              </a:r>
            </a:p>
          </p:txBody>
        </p:sp>
        <p:sp>
          <p:nvSpPr>
            <p:cNvPr id="22" name="Rounded Rectangle 18">
              <a:extLst>
                <a:ext uri="{FF2B5EF4-FFF2-40B4-BE49-F238E27FC236}">
                  <a16:creationId xmlns:a16="http://schemas.microsoft.com/office/drawing/2014/main" id="{6F833FD6-88B7-61B8-738D-F329BA8179D1}"/>
                </a:ext>
              </a:extLst>
            </p:cNvPr>
            <p:cNvSpPr/>
            <p:nvPr/>
          </p:nvSpPr>
          <p:spPr>
            <a:xfrm>
              <a:off x="8412480" y="33832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7E22C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7E22CE"/>
                  </a:solidFill>
                </a:defRPr>
              </a:pPr>
              <a:r>
                <a:t>Optimization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Google OR-Tools (MILP) &amp; OSMNx are used for capacity routing.</a:t>
              </a:r>
            </a:p>
          </p:txBody>
        </p:sp>
        <p:sp>
          <p:nvSpPr>
            <p:cNvPr id="23" name="Rounded Rectangle 19">
              <a:extLst>
                <a:ext uri="{FF2B5EF4-FFF2-40B4-BE49-F238E27FC236}">
                  <a16:creationId xmlns:a16="http://schemas.microsoft.com/office/drawing/2014/main" id="{64AD8A09-35A1-6C73-228B-A1A9FAA2B2A2}"/>
                </a:ext>
              </a:extLst>
            </p:cNvPr>
            <p:cNvSpPr/>
            <p:nvPr/>
          </p:nvSpPr>
          <p:spPr>
            <a:xfrm>
              <a:off x="8412480" y="42976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1E40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1E40AF"/>
                  </a:solidFill>
                </a:defRPr>
              </a:pPr>
              <a:r>
                <a:t>Deployment</a:t>
              </a:r>
            </a:p>
            <a:p>
              <a:r>
                <a:t>Next.js 14 on Vercel Edge, FastAPI on Render Cloud, IndexedDB Offline PWA.</a:t>
              </a:r>
            </a:p>
          </p:txBody>
        </p:sp>
        <p:sp>
          <p:nvSpPr>
            <p:cNvPr id="24" name="Rounded Rectangle 20">
              <a:extLst>
                <a:ext uri="{FF2B5EF4-FFF2-40B4-BE49-F238E27FC236}">
                  <a16:creationId xmlns:a16="http://schemas.microsoft.com/office/drawing/2014/main" id="{3B2ED74F-7E01-1EDD-A2A9-5F7F7119E17D}"/>
                </a:ext>
              </a:extLst>
            </p:cNvPr>
            <p:cNvSpPr/>
            <p:nvPr/>
          </p:nvSpPr>
          <p:spPr>
            <a:xfrm>
              <a:off x="8412480" y="5212080"/>
              <a:ext cx="3291840" cy="804672"/>
            </a:xfrm>
            <a:prstGeom prst="roundRect">
              <a:avLst/>
            </a:prstGeom>
            <a:solidFill>
              <a:srgbClr val="F8FAFC"/>
            </a:solidFill>
            <a:ln w="19050">
              <a:solidFill>
                <a:srgbClr val="BE123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BE123C"/>
                  </a:solidFill>
                </a:defRPr>
              </a:pPr>
              <a:r>
                <a:t>Data Feeds</a:t>
              </a:r>
            </a:p>
            <a:p>
              <a:pPr>
                <a:defRPr sz="750">
                  <a:solidFill>
                    <a:srgbClr val="0F172A"/>
                  </a:solidFill>
                </a:defRPr>
              </a:pPr>
              <a:r>
                <a:t>ISRO Bhuvan, Sentinel-2, IMD AWS API, and OpenStreetMap.</a:t>
              </a:r>
            </a:p>
          </p:txBody>
        </p:sp>
      </p:grpSp>
      <p:sp>
        <p:nvSpPr>
          <p:cNvPr id="26" name="Oval 25" descr="Your startup LOGO">
            <a:extLst>
              <a:ext uri="{FF2B5EF4-FFF2-40B4-BE49-F238E27FC236}">
                <a16:creationId xmlns:a16="http://schemas.microsoft.com/office/drawing/2014/main" id="{C54B914E-93C6-CC3D-C8DC-AECD743058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FD31AF-2902-DB63-5489-26A6029AA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55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357D15B-0B19-0B67-22CB-57E48E69ECB5}"/>
              </a:ext>
            </a:extLst>
          </p:cNvPr>
          <p:cNvSpPr txBox="1">
            <a:spLocks/>
          </p:cNvSpPr>
          <p:nvPr/>
        </p:nvSpPr>
        <p:spPr>
          <a:xfrm>
            <a:off x="8737600" y="63871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9" name="Footer Placeholder 6">
            <a:extLst>
              <a:ext uri="{FF2B5EF4-FFF2-40B4-BE49-F238E27FC236}">
                <a16:creationId xmlns:a16="http://schemas.microsoft.com/office/drawing/2014/main" id="{CD7F8BC6-54A0-072E-27EF-EC207F87CAA0}"/>
              </a:ext>
            </a:extLst>
          </p:cNvPr>
          <p:cNvSpPr txBox="1">
            <a:spLocks/>
          </p:cNvSpPr>
          <p:nvPr/>
        </p:nvSpPr>
        <p:spPr>
          <a:xfrm>
            <a:off x="4648200" y="63871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00C0-0177-E24F-BF06-43FAEA6B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F2AF9BA1-C1CF-C739-44CC-988646FF5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F2B8D-D487-036D-E62D-86748CC9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ptos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B73ED82-B22F-F563-7453-2E3E6D3B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1FF10F-B10D-9A08-55B6-432E7C540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F4E79"/>
                </a:solidFill>
                <a:latin typeface="Aptos"/>
              </a:rPr>
              <a:t>CAN IT BE BUILT, VALIDATED AND DEPLOYED?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FE2C98-9321-C398-00E2-25BF5D393BF5}"/>
              </a:ext>
            </a:extLst>
          </p:cNvPr>
          <p:cNvGrpSpPr/>
          <p:nvPr/>
        </p:nvGrpSpPr>
        <p:grpSpPr>
          <a:xfrm>
            <a:off x="377952" y="1572768"/>
            <a:ext cx="11064239" cy="4297680"/>
            <a:chOff x="548640" y="1188720"/>
            <a:chExt cx="11064239" cy="4297680"/>
          </a:xfrm>
        </p:grpSpPr>
        <p:sp>
          <p:nvSpPr>
            <p:cNvPr id="20" name="Rounded Rectangle 7">
              <a:extLst>
                <a:ext uri="{FF2B5EF4-FFF2-40B4-BE49-F238E27FC236}">
                  <a16:creationId xmlns:a16="http://schemas.microsoft.com/office/drawing/2014/main" id="{F7574BF7-1CC5-2A3A-D91E-C481412F1FFB}"/>
                </a:ext>
              </a:extLst>
            </p:cNvPr>
            <p:cNvSpPr/>
            <p:nvPr/>
          </p:nvSpPr>
          <p:spPr>
            <a:xfrm>
              <a:off x="548640" y="1188720"/>
              <a:ext cx="3474720" cy="4297680"/>
            </a:xfrm>
            <a:prstGeom prst="roundRect">
              <a:avLst/>
            </a:prstGeom>
            <a:solidFill>
              <a:srgbClr val="D9B48C"/>
            </a:solidFill>
            <a:ln>
              <a:solidFill>
                <a:srgbClr val="B48C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0F172A"/>
                  </a:solidFill>
                  <a:latin typeface="Calibri"/>
                </a:defRPr>
              </a:pPr>
              <a:r>
                <a:rPr dirty="0"/>
                <a:t>FEASIBILITY ANALYSIS</a:t>
              </a:r>
              <a:br>
                <a:rPr dirty="0"/>
              </a:br>
              <a:r>
                <a:rPr dirty="0"/>
                <a:t>⭐⭐⭐⭐½</a:t>
              </a:r>
            </a:p>
            <a:p>
              <a:r>
                <a:rPr sz="850" b="1" dirty="0">
                  <a:solidFill>
                    <a:srgbClr val="0F172A"/>
                  </a:solidFill>
                </a:rPr>
                <a:t>Fail-Closed Safety: If telemetry lags or sensors die (&gt;15m timeout), system triggers physics-based runoff model + 30% safety cushion.</a:t>
              </a:r>
            </a:p>
            <a:p>
              <a:r>
                <a:rPr sz="850" b="1" dirty="0">
                  <a:solidFill>
                    <a:srgbClr val="0F172A"/>
                  </a:solidFill>
                </a:rPr>
                <a:t>Pilot Scout Protocol: SDRF reconnaissance unit clears bridges 10 mins ahead before civilian bus convoy moves.</a:t>
              </a:r>
            </a:p>
            <a:p>
              <a:r>
                <a:rPr sz="850" b="1" dirty="0">
                  <a:solidFill>
                    <a:srgbClr val="0F172A"/>
                  </a:solidFill>
                </a:rPr>
                <a:t>Infrastructure Reusability: Leverages DILRMP land records, CWC radar river gauges, and ISRO CartoDEM with zero new hardware.</a:t>
              </a:r>
            </a:p>
            <a:p>
              <a:r>
                <a:rPr sz="850" b="1" dirty="0">
                  <a:solidFill>
                    <a:srgbClr val="0F172A"/>
                  </a:solidFill>
                </a:rPr>
                <a:t>Scalable Deployment: Decoupled GeoJSON architecture works seamlessly across all 28 states &amp; 8 Union Territories.</a:t>
              </a:r>
            </a:p>
          </p:txBody>
        </p:sp>
        <p:sp>
          <p:nvSpPr>
            <p:cNvPr id="21" name="Rounded Rectangle 8">
              <a:extLst>
                <a:ext uri="{FF2B5EF4-FFF2-40B4-BE49-F238E27FC236}">
                  <a16:creationId xmlns:a16="http://schemas.microsoft.com/office/drawing/2014/main" id="{8C59D002-BEDF-1F7E-71FD-031901FB3E63}"/>
                </a:ext>
              </a:extLst>
            </p:cNvPr>
            <p:cNvSpPr/>
            <p:nvPr/>
          </p:nvSpPr>
          <p:spPr>
            <a:xfrm>
              <a:off x="4343399" y="1188720"/>
              <a:ext cx="3474720" cy="4297680"/>
            </a:xfrm>
            <a:prstGeom prst="roundRect">
              <a:avLst/>
            </a:prstGeom>
            <a:solidFill>
              <a:srgbClr val="94A3B8"/>
            </a:solidFill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0F172A"/>
                  </a:solidFill>
                  <a:latin typeface="Calibri"/>
                </a:defRPr>
              </a:pPr>
              <a:r>
                <a:t>VIABILITY</a:t>
              </a:r>
              <a:br/>
              <a:r>
                <a:t>✔ Proven &amp; Transparent</a:t>
              </a:r>
            </a:p>
            <a:p>
              <a:r>
                <a:rPr sz="850" b="1">
                  <a:solidFill>
                    <a:srgbClr val="0F172A"/>
                  </a:solidFill>
                </a:rPr>
                <a:t>Section 34 DM Act 2005: 1-click legal executive evacuation directives with bus manifests and police escorts.</a:t>
              </a:r>
            </a:p>
            <a:p>
              <a:r>
                <a:rPr sz="850" b="1">
                  <a:solidFill>
                    <a:srgbClr val="0F172A"/>
                  </a:solidFill>
                </a:rPr>
                <a:t>Section 47 DM Act (NDMF): 15th Finance Commission mitigation fund for permanent tableland townships.</a:t>
              </a:r>
            </a:p>
            <a:p>
              <a:r>
                <a:rPr sz="850" b="1">
                  <a:solidFill>
                    <a:srgbClr val="0F172A"/>
                  </a:solidFill>
                </a:rPr>
                <a:t>Explainable AI (SHAP): Eliminates black-box distrust for District Magistrates; audit-proof legal transparency.</a:t>
              </a:r>
            </a:p>
            <a:p>
              <a:r>
                <a:rPr sz="850" b="1">
                  <a:solidFill>
                    <a:srgbClr val="0F172A"/>
                  </a:solidFill>
                </a:rPr>
                <a:t>Multi-Criteria GIS: Evaluates slope (&lt;8°), unconfined aquifers, and highway proximity for permanent land bank safety.</a:t>
              </a:r>
            </a:p>
          </p:txBody>
        </p:sp>
        <p:sp>
          <p:nvSpPr>
            <p:cNvPr id="22" name="Rounded Rectangle 9">
              <a:extLst>
                <a:ext uri="{FF2B5EF4-FFF2-40B4-BE49-F238E27FC236}">
                  <a16:creationId xmlns:a16="http://schemas.microsoft.com/office/drawing/2014/main" id="{0B3A02DD-E537-ADA2-D080-B1D731C11435}"/>
                </a:ext>
              </a:extLst>
            </p:cNvPr>
            <p:cNvSpPr/>
            <p:nvPr/>
          </p:nvSpPr>
          <p:spPr>
            <a:xfrm>
              <a:off x="8138159" y="1188720"/>
              <a:ext cx="3474720" cy="4297680"/>
            </a:xfrm>
            <a:prstGeom prst="roundRect">
              <a:avLst/>
            </a:prstGeom>
            <a:solidFill>
              <a:srgbClr val="CAA073"/>
            </a:solidFill>
            <a:ln>
              <a:solidFill>
                <a:srgbClr val="A078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100" b="1">
                  <a:solidFill>
                    <a:srgbClr val="0F172A"/>
                  </a:solidFill>
                  <a:latin typeface="Calibri"/>
                </a:defRPr>
              </a:pPr>
              <a:r>
                <a:rPr dirty="0"/>
                <a:t>BUSINESS POTENTIAL</a:t>
              </a:r>
              <a:br>
                <a:rPr dirty="0"/>
              </a:br>
              <a:r>
                <a:rPr dirty="0"/>
                <a:t>&amp; GOVERNMENT SAVINGS</a:t>
              </a:r>
            </a:p>
            <a:p>
              <a:r>
                <a:rPr sz="900" b="1" dirty="0">
                  <a:solidFill>
                    <a:srgbClr val="0F172A"/>
                  </a:solidFill>
                </a:rPr>
                <a:t>Eliminates Secondary Disasters: Zero camp stampedes or supply stockouts via mathematical capacity constraints.</a:t>
              </a:r>
            </a:p>
            <a:p>
              <a:r>
                <a:rPr sz="900" b="1" dirty="0">
                  <a:solidFill>
                    <a:srgbClr val="0F172A"/>
                  </a:solidFill>
                </a:rPr>
                <a:t>Permanent Rehabilitation: Stops the endless annual ₹500 Cr cycle of rescuing the same flooded riverbed families.</a:t>
              </a:r>
            </a:p>
          </p:txBody>
        </p:sp>
      </p:grpSp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7D71B451-7464-3D72-2BC7-819A1E7DA7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7952" y="28804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EF0F05-0BEE-51A8-2C89-9BB6E1DCC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7064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6D1CED1F-47E0-E870-C873-46ABA1E55D77}"/>
              </a:ext>
            </a:extLst>
          </p:cNvPr>
          <p:cNvSpPr txBox="1">
            <a:spLocks/>
          </p:cNvSpPr>
          <p:nvPr/>
        </p:nvSpPr>
        <p:spPr>
          <a:xfrm>
            <a:off x="8737601" y="637223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8" name="Footer Placeholder 6">
            <a:extLst>
              <a:ext uri="{FF2B5EF4-FFF2-40B4-BE49-F238E27FC236}">
                <a16:creationId xmlns:a16="http://schemas.microsoft.com/office/drawing/2014/main" id="{5D4087EF-2A9B-AB3D-D010-99DCF3247B32}"/>
              </a:ext>
            </a:extLst>
          </p:cNvPr>
          <p:cNvSpPr txBox="1">
            <a:spLocks/>
          </p:cNvSpPr>
          <p:nvPr/>
        </p:nvSpPr>
        <p:spPr>
          <a:xfrm>
            <a:off x="4648201" y="6372231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15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ptos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 err="1"/>
              <a:t>BharatBytes</a:t>
            </a:r>
            <a:endParaRPr lang="en-IN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FROM RISK MAP → TO ACTION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8D84666-1A4E-4B08-9143-7EBE987AFE43}"/>
              </a:ext>
            </a:extLst>
          </p:cNvPr>
          <p:cNvGrpSpPr/>
          <p:nvPr/>
        </p:nvGrpSpPr>
        <p:grpSpPr>
          <a:xfrm>
            <a:off x="457200" y="1494258"/>
            <a:ext cx="11155680" cy="5120640"/>
            <a:chOff x="548640" y="1097280"/>
            <a:chExt cx="11155680" cy="51206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CC0EBEC-9C76-3198-8375-E4184CD4BD56}"/>
                </a:ext>
              </a:extLst>
            </p:cNvPr>
            <p:cNvSpPr/>
            <p:nvPr/>
          </p:nvSpPr>
          <p:spPr>
            <a:xfrm>
              <a:off x="2743200" y="2651760"/>
              <a:ext cx="1463040" cy="146304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1B365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1B365D"/>
                  </a:solidFill>
                  <a:latin typeface="Calibri"/>
                </a:defRPr>
              </a:pPr>
              <a:r>
                <a:t>IMPACTS</a:t>
              </a:r>
              <a:br/>
              <a:r>
                <a:t>&amp;</a:t>
              </a:r>
              <a:br/>
              <a:r>
                <a:t>BENEFITS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E73760E-7191-23BF-E60D-CD1B178F0BD3}"/>
                </a:ext>
              </a:extLst>
            </p:cNvPr>
            <p:cNvSpPr/>
            <p:nvPr/>
          </p:nvSpPr>
          <p:spPr>
            <a:xfrm>
              <a:off x="2103120" y="132588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03F4CC3-9F54-32EE-78BB-4D2C346F2502}"/>
                </a:ext>
              </a:extLst>
            </p:cNvPr>
            <p:cNvSpPr txBox="1"/>
            <p:nvPr/>
          </p:nvSpPr>
          <p:spPr>
            <a:xfrm>
              <a:off x="548640" y="118872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rPr dirty="0"/>
                <a:t>Reduced Latency</a:t>
              </a:r>
            </a:p>
            <a:p>
              <a:r>
                <a:rPr dirty="0"/>
                <a:t>Solves multi-shelter evacuation in 5.4 milliseconds (99.9% faster than 72h manual planning).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0123053-DA5E-8142-7443-31EFF687D7C9}"/>
                </a:ext>
              </a:extLst>
            </p:cNvPr>
            <p:cNvSpPr/>
            <p:nvPr/>
          </p:nvSpPr>
          <p:spPr>
            <a:xfrm>
              <a:off x="2103120" y="251460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AE2062-4C11-9F4D-AD9F-964488C4F395}"/>
                </a:ext>
              </a:extLst>
            </p:cNvPr>
            <p:cNvSpPr txBox="1"/>
            <p:nvPr/>
          </p:nvSpPr>
          <p:spPr>
            <a:xfrm>
              <a:off x="548640" y="237744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Faster Response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Saves crucial emergency time by giving vulnerable habitations priority routing.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3F6BB8E-4636-DF91-188A-0C153E5809D3}"/>
                </a:ext>
              </a:extLst>
            </p:cNvPr>
            <p:cNvSpPr/>
            <p:nvPr/>
          </p:nvSpPr>
          <p:spPr>
            <a:xfrm>
              <a:off x="2103120" y="370332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818670-15BE-5190-AE0C-FA86646DF9C0}"/>
                </a:ext>
              </a:extLst>
            </p:cNvPr>
            <p:cNvSpPr txBox="1"/>
            <p:nvPr/>
          </p:nvSpPr>
          <p:spPr>
            <a:xfrm>
              <a:off x="548640" y="356616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rPr dirty="0"/>
                <a:t>Lower Relief Waste</a:t>
              </a:r>
            </a:p>
            <a:p>
              <a:r>
                <a:rPr dirty="0"/>
                <a:t>Mathematically guarantees 0% overflow across 5,800 beds; audits water, food &amp; sanitation runway.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1D57D49-9DC0-E4D0-A77A-F8C6C905FCD2}"/>
                </a:ext>
              </a:extLst>
            </p:cNvPr>
            <p:cNvSpPr/>
            <p:nvPr/>
          </p:nvSpPr>
          <p:spPr>
            <a:xfrm>
              <a:off x="2103120" y="4892040"/>
              <a:ext cx="411480" cy="411480"/>
            </a:xfrm>
            <a:prstGeom prst="ellipse">
              <a:avLst/>
            </a:prstGeom>
            <a:solidFill>
              <a:srgbClr val="E2E8F0"/>
            </a:solidFill>
            <a:ln>
              <a:solidFill>
                <a:srgbClr val="0F172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/>
              </a:pPr>
              <a: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4DA1ECC-ECC4-FA5E-6E29-3CB7A0AF39C5}"/>
                </a:ext>
              </a:extLst>
            </p:cNvPr>
            <p:cNvSpPr txBox="1"/>
            <p:nvPr/>
          </p:nvSpPr>
          <p:spPr>
            <a:xfrm>
              <a:off x="548640" y="475488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Emergency Alerts</a:t>
              </a:r>
            </a:p>
            <a:p>
              <a:r>
                <a:t>Auto-generates legal evacuation orders under Section 34 of DM Act with live detour rerouting.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C6D8458-94DB-8C3D-A5E8-09A2D4EB3D00}"/>
                </a:ext>
              </a:extLst>
            </p:cNvPr>
            <p:cNvSpPr/>
            <p:nvPr/>
          </p:nvSpPr>
          <p:spPr>
            <a:xfrm>
              <a:off x="4297680" y="132588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35A6A9-C29F-C3BA-1EA6-F1C3127C4533}"/>
                </a:ext>
              </a:extLst>
            </p:cNvPr>
            <p:cNvSpPr txBox="1"/>
            <p:nvPr/>
          </p:nvSpPr>
          <p:spPr>
            <a:xfrm>
              <a:off x="4754880" y="118872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Safety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Quicker emergency response, safer relocation, zero abandoned vulnerable citizens.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83991C7-FB00-7663-FF21-0ED020107BF6}"/>
                </a:ext>
              </a:extLst>
            </p:cNvPr>
            <p:cNvSpPr/>
            <p:nvPr/>
          </p:nvSpPr>
          <p:spPr>
            <a:xfrm>
              <a:off x="4297680" y="251460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5CABA44-E743-88A4-8FDE-2D16F339B6CC}"/>
                </a:ext>
              </a:extLst>
            </p:cNvPr>
            <p:cNvSpPr txBox="1"/>
            <p:nvPr/>
          </p:nvSpPr>
          <p:spPr>
            <a:xfrm>
              <a:off x="4754880" y="237744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Economic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Time optimization, relief cost savings, improved disaster logistics productivity.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630F85-708B-D419-5B6A-B36906292497}"/>
                </a:ext>
              </a:extLst>
            </p:cNvPr>
            <p:cNvSpPr/>
            <p:nvPr/>
          </p:nvSpPr>
          <p:spPr>
            <a:xfrm>
              <a:off x="4297680" y="370332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4FB86A6-956E-EC4C-E43D-48564AC8C04D}"/>
                </a:ext>
              </a:extLst>
            </p:cNvPr>
            <p:cNvSpPr txBox="1"/>
            <p:nvPr/>
          </p:nvSpPr>
          <p:spPr>
            <a:xfrm>
              <a:off x="4754880" y="356616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Environmental</a:t>
              </a:r>
            </a:p>
            <a:p>
              <a:r>
                <a:t>190 Hectares of NDMF tableland parcels (&lt;8° slope) for 27,000 citizens in 6,400 permanent housing units.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CFD7083-7751-E746-6F48-C42CB0114B23}"/>
                </a:ext>
              </a:extLst>
            </p:cNvPr>
            <p:cNvSpPr/>
            <p:nvPr/>
          </p:nvSpPr>
          <p:spPr>
            <a:xfrm>
              <a:off x="4297680" y="4892040"/>
              <a:ext cx="411480" cy="411480"/>
            </a:xfrm>
            <a:prstGeom prst="ellipse">
              <a:avLst/>
            </a:prstGeom>
            <a:solidFill>
              <a:srgbClr val="1B365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50" b="1">
                  <a:solidFill>
                    <a:srgbClr val="FFFFFF"/>
                  </a:solidFill>
                </a:defRPr>
              </a:pPr>
              <a:r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DB9AA2-0375-F6F4-573D-AA46DB2ECCC5}"/>
                </a:ext>
              </a:extLst>
            </p:cNvPr>
            <p:cNvSpPr txBox="1"/>
            <p:nvPr/>
          </p:nvSpPr>
          <p:spPr>
            <a:xfrm>
              <a:off x="4754880" y="4754880"/>
              <a:ext cx="150876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50" b="1">
                  <a:solidFill>
                    <a:srgbClr val="1B365D"/>
                  </a:solidFill>
                </a:defRPr>
              </a:pPr>
              <a:r>
                <a:t>Technology</a:t>
              </a:r>
            </a:p>
            <a:p>
              <a:pPr>
                <a:defRPr sz="700">
                  <a:solidFill>
                    <a:srgbClr val="0F172A"/>
                  </a:solidFill>
                </a:defRPr>
              </a:pPr>
              <a:r>
                <a:t>Smart automation, real-time monitoring, AI-driven disaster management.</a:t>
              </a:r>
            </a:p>
          </p:txBody>
        </p:sp>
        <p:pic>
          <p:nvPicPr>
            <p:cNvPr id="35" name="Picture 34" descr="template_bar_chart.png">
              <a:extLst>
                <a:ext uri="{FF2B5EF4-FFF2-40B4-BE49-F238E27FC236}">
                  <a16:creationId xmlns:a16="http://schemas.microsoft.com/office/drawing/2014/main" id="{988B158D-F4D7-733D-0390-D0BE71123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0" y="1097280"/>
              <a:ext cx="5303520" cy="301752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3894823-C935-50B6-E376-5EEB1596393E}"/>
                </a:ext>
              </a:extLst>
            </p:cNvPr>
            <p:cNvSpPr txBox="1"/>
            <p:nvPr/>
          </p:nvSpPr>
          <p:spPr>
            <a:xfrm>
              <a:off x="6400800" y="4206240"/>
              <a:ext cx="53035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1B365D"/>
                  </a:solidFill>
                </a:defRPr>
              </a:pPr>
              <a:r>
                <a:t>From Chaotic Evacuation ➔ Safe Relocation</a:t>
              </a:r>
            </a:p>
          </p:txBody>
        </p:sp>
        <p:pic>
          <p:nvPicPr>
            <p:cNvPr id="37" name="Picture 36" descr="before_after.png">
              <a:extLst>
                <a:ext uri="{FF2B5EF4-FFF2-40B4-BE49-F238E27FC236}">
                  <a16:creationId xmlns:a16="http://schemas.microsoft.com/office/drawing/2014/main" id="{76F1FE52-04DA-DECA-2D8A-2D9CB9007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0" y="4572000"/>
              <a:ext cx="5303520" cy="1645920"/>
            </a:xfrm>
            <a:prstGeom prst="rect">
              <a:avLst/>
            </a:prstGeom>
          </p:spPr>
        </p:pic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9AA4198-11A4-323A-D91E-635262C95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8665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1F05C38D-72EE-2D50-955D-A4F9B2048AFA}"/>
              </a:ext>
            </a:extLst>
          </p:cNvPr>
          <p:cNvSpPr txBox="1">
            <a:spLocks/>
          </p:cNvSpPr>
          <p:nvPr/>
        </p:nvSpPr>
        <p:spPr>
          <a:xfrm>
            <a:off x="8737600" y="636025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0" name="Footer Placeholder 6">
            <a:extLst>
              <a:ext uri="{FF2B5EF4-FFF2-40B4-BE49-F238E27FC236}">
                <a16:creationId xmlns:a16="http://schemas.microsoft.com/office/drawing/2014/main" id="{773DEEEB-4146-D804-1D80-684445FA8626}"/>
              </a:ext>
            </a:extLst>
          </p:cNvPr>
          <p:cNvSpPr txBox="1">
            <a:spLocks/>
          </p:cNvSpPr>
          <p:nvPr/>
        </p:nvSpPr>
        <p:spPr>
          <a:xfrm>
            <a:off x="4648200" y="6360256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B61EA-6FE1-9002-3399-11E28E904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A992C3A2-187A-92B1-17C1-0E8838185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 eaLnBrk="1" hangingPunct="1"/>
            <a:br>
              <a:rPr lang="en-US" sz="2600" b="1" dirty="0">
                <a:solidFill>
                  <a:srgbClr val="1F2D3D"/>
                </a:solidFill>
                <a:latin typeface="Aptos Display"/>
              </a:rPr>
            </a:br>
            <a:r>
              <a:rPr sz="2600" b="1" dirty="0">
                <a:solidFill>
                  <a:srgbClr val="1F2D3D"/>
                </a:solidFill>
                <a:latin typeface="Aptos Display"/>
              </a:rPr>
              <a:t>RESEARCH &amp;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580A6-FE51-EE1D-A18A-71FA55E3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ptos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A36462-5773-C9B6-24F3-298782B0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401E40EA-B28C-48ED-11EA-0A5622BD14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000000"/>
                </a:solidFill>
                <a:latin typeface="Aptos"/>
              </a:rPr>
              <a:t>BharatBytes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E2BBEB-B13A-8D8A-11DE-901AEAC3A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1F4E79"/>
                </a:solidFill>
                <a:latin typeface="Aptos"/>
              </a:rPr>
              <a:t>KEY RESEARCH + DATA / TECHNOLOGY REFERENCES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649826-4E1A-A1DD-ED9B-15D2EAE968B6}"/>
              </a:ext>
            </a:extLst>
          </p:cNvPr>
          <p:cNvGrpSpPr/>
          <p:nvPr/>
        </p:nvGrpSpPr>
        <p:grpSpPr>
          <a:xfrm>
            <a:off x="458723" y="1425832"/>
            <a:ext cx="11109960" cy="4709160"/>
            <a:chOff x="548640" y="1188720"/>
            <a:chExt cx="11109960" cy="4709160"/>
          </a:xfrm>
        </p:grpSpPr>
        <p:sp>
          <p:nvSpPr>
            <p:cNvPr id="5" name="Rounded Rectangle 7">
              <a:extLst>
                <a:ext uri="{FF2B5EF4-FFF2-40B4-BE49-F238E27FC236}">
                  <a16:creationId xmlns:a16="http://schemas.microsoft.com/office/drawing/2014/main" id="{822AC5C4-260E-C91B-907C-2DC0669DDAEA}"/>
                </a:ext>
              </a:extLst>
            </p:cNvPr>
            <p:cNvSpPr/>
            <p:nvPr/>
          </p:nvSpPr>
          <p:spPr>
            <a:xfrm>
              <a:off x="548640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ISRO NDEM</a:t>
              </a:r>
            </a:p>
            <a:p>
              <a:r>
                <a:t>10m Elevation &amp; Sentinel-2 Water Mask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8" name="Rounded Rectangle 8">
              <a:extLst>
                <a:ext uri="{FF2B5EF4-FFF2-40B4-BE49-F238E27FC236}">
                  <a16:creationId xmlns:a16="http://schemas.microsoft.com/office/drawing/2014/main" id="{18119AA9-041E-020E-9435-E00234A1D4FF}"/>
                </a:ext>
              </a:extLst>
            </p:cNvPr>
            <p:cNvSpPr/>
            <p:nvPr/>
          </p:nvSpPr>
          <p:spPr>
            <a:xfrm>
              <a:off x="2130552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NDMA SOPs</a:t>
              </a:r>
            </a:p>
            <a:p>
              <a:r>
                <a:t>Section 34 Evacuation &amp; Sec 47 NDMF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21F9BA9-5BAC-7ED1-B691-E76AA989F4AE}"/>
                </a:ext>
              </a:extLst>
            </p:cNvPr>
            <p:cNvSpPr/>
            <p:nvPr/>
          </p:nvSpPr>
          <p:spPr>
            <a:xfrm>
              <a:off x="3712463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Cutter (SoVI)</a:t>
              </a:r>
            </a:p>
            <a:p>
              <a:r>
                <a:t>Demographic Vulnerability &amp; SPHERE Standards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C1518D3-CD7B-D1E7-3A18-E24D9BD661DC}"/>
                </a:ext>
              </a:extLst>
            </p:cNvPr>
            <p:cNvSpPr/>
            <p:nvPr/>
          </p:nvSpPr>
          <p:spPr>
            <a:xfrm>
              <a:off x="5294375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Google OR-Tools</a:t>
              </a:r>
            </a:p>
            <a:p>
              <a:r>
                <a:t>PuLP &amp; Google OR-Tools 5.4ms MILP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3" name="Rounded Rectangle 11">
              <a:extLst>
                <a:ext uri="{FF2B5EF4-FFF2-40B4-BE49-F238E27FC236}">
                  <a16:creationId xmlns:a16="http://schemas.microsoft.com/office/drawing/2014/main" id="{349C599F-92C2-A995-688F-62C88071910B}"/>
                </a:ext>
              </a:extLst>
            </p:cNvPr>
            <p:cNvSpPr/>
            <p:nvPr/>
          </p:nvSpPr>
          <p:spPr>
            <a:xfrm>
              <a:off x="6876288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ScienceDirect</a:t>
              </a:r>
            </a:p>
            <a:p>
              <a:r>
                <a:t>Open-Meteo &amp; IMD AWS Sensor Telemetry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4" name="Rounded Rectangle 12">
              <a:extLst>
                <a:ext uri="{FF2B5EF4-FFF2-40B4-BE49-F238E27FC236}">
                  <a16:creationId xmlns:a16="http://schemas.microsoft.com/office/drawing/2014/main" id="{8E3F8E62-7929-2214-9A69-BE848C19F0C4}"/>
                </a:ext>
              </a:extLst>
            </p:cNvPr>
            <p:cNvSpPr/>
            <p:nvPr/>
          </p:nvSpPr>
          <p:spPr>
            <a:xfrm>
              <a:off x="8458200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Lundberg (SHAP)</a:t>
              </a:r>
            </a:p>
            <a:p>
              <a:r>
                <a:t>XGBoost &amp; TreeSHAP for District Magistrates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5" name="Rounded Rectangle 13">
              <a:extLst>
                <a:ext uri="{FF2B5EF4-FFF2-40B4-BE49-F238E27FC236}">
                  <a16:creationId xmlns:a16="http://schemas.microsoft.com/office/drawing/2014/main" id="{B37700B5-D1A2-951B-5C3C-F85FAC04EBC2}"/>
                </a:ext>
              </a:extLst>
            </p:cNvPr>
            <p:cNvSpPr/>
            <p:nvPr/>
          </p:nvSpPr>
          <p:spPr>
            <a:xfrm>
              <a:off x="10040111" y="1188720"/>
              <a:ext cx="1536192" cy="1554480"/>
            </a:xfrm>
            <a:prstGeom prst="roundRect">
              <a:avLst/>
            </a:prstGeom>
            <a:solidFill>
              <a:srgbClr val="E2CEB4"/>
            </a:solidFill>
            <a:ln>
              <a:solidFill>
                <a:srgbClr val="BEA5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800" b="1">
                  <a:solidFill>
                    <a:srgbClr val="0F172A"/>
                  </a:solidFill>
                </a:defRPr>
              </a:pPr>
              <a:r>
                <a:t>OpenStreetMap</a:t>
              </a:r>
            </a:p>
            <a:p>
              <a:r>
                <a:t>CWC e-SWIS Radar River Gauges &amp; DILRMP</a:t>
              </a:r>
            </a:p>
            <a:p>
              <a:pPr algn="ctr">
                <a:defRPr sz="800" b="1">
                  <a:solidFill>
                    <a:srgbClr val="2563EB"/>
                  </a:solidFill>
                </a:defRPr>
              </a:pPr>
              <a:r>
                <a:t>LINK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96498E-3E91-4DEE-7458-2582A71A9DDD}"/>
                </a:ext>
              </a:extLst>
            </p:cNvPr>
            <p:cNvSpPr txBox="1"/>
            <p:nvPr/>
          </p:nvSpPr>
          <p:spPr>
            <a:xfrm>
              <a:off x="9601200" y="2788920"/>
              <a:ext cx="2011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1600" b="1">
                  <a:solidFill>
                    <a:srgbClr val="94A3B8"/>
                  </a:solidFill>
                </a:defRPr>
              </a:pPr>
              <a:r>
                <a:t>UI/UX</a:t>
              </a:r>
            </a:p>
          </p:txBody>
        </p:sp>
        <p:pic>
          <p:nvPicPr>
            <p:cNvPr id="17" name="Picture 16" descr="ui_screen_1.png">
              <a:extLst>
                <a:ext uri="{FF2B5EF4-FFF2-40B4-BE49-F238E27FC236}">
                  <a16:creationId xmlns:a16="http://schemas.microsoft.com/office/drawing/2014/main" id="{CD6C594B-D175-FD3C-A26B-60D5E3873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3108960"/>
              <a:ext cx="3520440" cy="219456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0F2764-8875-5A9D-99D6-F753301DF0BA}"/>
                </a:ext>
              </a:extLst>
            </p:cNvPr>
            <p:cNvSpPr txBox="1"/>
            <p:nvPr/>
          </p:nvSpPr>
          <p:spPr>
            <a:xfrm>
              <a:off x="548640" y="5349240"/>
              <a:ext cx="35204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1. Live Web Application: https://sih-disaster-management-beige.vercel.app</a:t>
              </a:r>
            </a:p>
          </p:txBody>
        </p:sp>
        <p:pic>
          <p:nvPicPr>
            <p:cNvPr id="19" name="Picture 18" descr="ui_screen_2.png">
              <a:extLst>
                <a:ext uri="{FF2B5EF4-FFF2-40B4-BE49-F238E27FC236}">
                  <a16:creationId xmlns:a16="http://schemas.microsoft.com/office/drawing/2014/main" id="{9BCAD86C-EBDA-AED5-7202-7B625DDE6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400" y="3108960"/>
              <a:ext cx="3520440" cy="219456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7AC3C7A-0279-FC0A-6D52-75595CF0586A}"/>
                </a:ext>
              </a:extLst>
            </p:cNvPr>
            <p:cNvSpPr txBox="1"/>
            <p:nvPr/>
          </p:nvSpPr>
          <p:spPr>
            <a:xfrm>
              <a:off x="4343400" y="5349240"/>
              <a:ext cx="35204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2. Optimization Engine API: https://sih-disaster-management-botb.onrender.com/docs</a:t>
              </a:r>
            </a:p>
          </p:txBody>
        </p:sp>
        <p:pic>
          <p:nvPicPr>
            <p:cNvPr id="21" name="Picture 20" descr="ui_screen_3.png">
              <a:extLst>
                <a:ext uri="{FF2B5EF4-FFF2-40B4-BE49-F238E27FC236}">
                  <a16:creationId xmlns:a16="http://schemas.microsoft.com/office/drawing/2014/main" id="{0E4B242E-2042-D21F-DF2B-F93456195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8160" y="3108960"/>
              <a:ext cx="3520440" cy="219456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86AC85-55A2-B26D-47B0-71197051CC07}"/>
                </a:ext>
              </a:extLst>
            </p:cNvPr>
            <p:cNvSpPr txBox="1"/>
            <p:nvPr/>
          </p:nvSpPr>
          <p:spPr>
            <a:xfrm>
              <a:off x="8138160" y="5349240"/>
              <a:ext cx="352044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3. GitHub Repository: https://github.com/Mulpuru555/SIH--Disaster-Management-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4691FF2D-51F5-D3FC-0074-60C6B077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32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059D6776-4F50-72DA-61DA-4B4EF925AED4}"/>
              </a:ext>
            </a:extLst>
          </p:cNvPr>
          <p:cNvSpPr txBox="1">
            <a:spLocks/>
          </p:cNvSpPr>
          <p:nvPr/>
        </p:nvSpPr>
        <p:spPr>
          <a:xfrm>
            <a:off x="8737600" y="63548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5" name="Footer Placeholder 6">
            <a:extLst>
              <a:ext uri="{FF2B5EF4-FFF2-40B4-BE49-F238E27FC236}">
                <a16:creationId xmlns:a16="http://schemas.microsoft.com/office/drawing/2014/main" id="{88443F13-7D41-6B42-6D3C-1E6FF5801544}"/>
              </a:ext>
            </a:extLst>
          </p:cNvPr>
          <p:cNvSpPr txBox="1">
            <a:spLocks/>
          </p:cNvSpPr>
          <p:nvPr/>
        </p:nvSpPr>
        <p:spPr>
          <a:xfrm>
            <a:off x="4648200" y="63548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757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7570</TotalTime>
  <Words>1139</Words>
  <Application>Microsoft Office PowerPoint</Application>
  <PresentationFormat>Widescreen</PresentationFormat>
  <Paragraphs>191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Aptos Display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 TECHNICAL APPROACH</vt:lpstr>
      <vt:lpstr> FEASIBILITY AND VIABILITY</vt:lpstr>
      <vt:lpstr> IMPACT AND BENEFITS</vt:lpstr>
      <vt:lpstr> RESEARCH &amp;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Tammana Mallikharjuna</cp:lastModifiedBy>
  <cp:revision>159</cp:revision>
  <dcterms:created xsi:type="dcterms:W3CDTF">2013-12-12T18:46:50Z</dcterms:created>
  <dcterms:modified xsi:type="dcterms:W3CDTF">2026-08-28T15:07:12Z</dcterms:modified>
  <cp:category/>
</cp:coreProperties>
</file>