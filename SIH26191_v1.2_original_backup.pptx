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305" r:id="rId2"/>
    <p:sldId id="306" r:id="rId3"/>
    <p:sldId id="290" r:id="rId4"/>
    <p:sldId id="299" r:id="rId5"/>
    <p:sldId id="294" r:id="rId6"/>
    <p:sldId id="304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F31C8-E217-CF74-0FB9-B55F5F495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5BB54E8E-1C16-8D66-2A72-230563893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3565BD89-025C-2213-335E-64B873E4A9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2B1F5459-72FA-B06B-9D2E-BEB7D9724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64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76FBE-8ED2-5DEB-028B-764026745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284E34F8-8827-E2DC-0A38-F026CED23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29B2FCC-2AA1-151D-5B24-CA46E66AE5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A205AEED-FC12-0516-B345-D26012A11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201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06027-067E-B3F8-5097-14FF15240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81C6AE41-AA11-52C4-99A6-CD07CDF2A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4903D2A-8333-63FB-9B33-5B7E1718C6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62556CE4-1D72-4D5A-2906-A14A53C0C7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146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086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SIH26191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Intelligent Identification of Hazard-Based Red Zones, Carrying Capacity Assessment, and Immediate Relocation Needs for Vulnerable Habitations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Disaster Management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Team 16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BharatBytes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649BB-B015-36C7-01D0-B759E9C79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CAAEE-FBF3-DF80-BEE5-11344CCB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sz="1000">
                <a:solidFill>
                  <a:srgbClr val="FFFFFF"/>
                </a:solidFill>
                <a:latin typeface="Aptos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5A9F6EB-6352-590C-DB79-0A76C0C14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F4F447-5D04-6E19-EC96-7589EA361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DCF95B5-75E3-B4AF-40D0-63B40F6E454F}"/>
              </a:ext>
            </a:extLst>
          </p:cNvPr>
          <p:cNvGrpSpPr/>
          <p:nvPr/>
        </p:nvGrpSpPr>
        <p:grpSpPr>
          <a:xfrm>
            <a:off x="426720" y="335959"/>
            <a:ext cx="11155680" cy="5983807"/>
            <a:chOff x="548640" y="228600"/>
            <a:chExt cx="11155680" cy="598380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F3D3F83-4E91-A0DD-88B9-538C818BD73B}"/>
                </a:ext>
              </a:extLst>
            </p:cNvPr>
            <p:cNvSpPr txBox="1"/>
            <p:nvPr/>
          </p:nvSpPr>
          <p:spPr>
            <a:xfrm>
              <a:off x="2377440" y="228600"/>
              <a:ext cx="7498079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200" b="1">
                  <a:solidFill>
                    <a:srgbClr val="1B365D"/>
                  </a:solidFill>
                  <a:latin typeface="Times New Roman"/>
                </a:defRPr>
              </a:pPr>
              <a:r>
                <a:t>ResQGrid: AI-Powered Proactive Relocation Intelligence</a:t>
              </a:r>
              <a:br/>
              <a:r>
                <a:t>Revolutionizing India's Disaster Resilience</a:t>
              </a:r>
            </a:p>
          </p:txBody>
        </p:sp>
        <p:sp>
          <p:nvSpPr>
            <p:cNvPr id="9" name="Rounded Rectangle 7">
              <a:extLst>
                <a:ext uri="{FF2B5EF4-FFF2-40B4-BE49-F238E27FC236}">
                  <a16:creationId xmlns:a16="http://schemas.microsoft.com/office/drawing/2014/main" id="{CBBD270E-0769-840E-9878-DB3C664E2C90}"/>
                </a:ext>
              </a:extLst>
            </p:cNvPr>
            <p:cNvSpPr/>
            <p:nvPr/>
          </p:nvSpPr>
          <p:spPr>
            <a:xfrm>
              <a:off x="548640" y="1188720"/>
              <a:ext cx="3291840" cy="1417320"/>
            </a:xfrm>
            <a:prstGeom prst="roundRect">
              <a:avLst/>
            </a:prstGeom>
            <a:solidFill>
              <a:srgbClr val="2D37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00" b="1">
                  <a:solidFill>
                    <a:srgbClr val="FDE047"/>
                  </a:solidFill>
                </a:rPr>
                <a:t>Real-world issue: </a:t>
              </a:r>
              <a:r>
                <a:rPr sz="950">
                  <a:solidFill>
                    <a:srgbClr val="FFFFFF"/>
                  </a:solidFill>
                </a:rPr>
                <a:t>Flash floods, landslides (Wayanad, Himachal), and unplanned evacuations cause massive casualties, shelter bottlenecks, and severe resource wastage.</a:t>
              </a:r>
            </a:p>
          </p:txBody>
        </p:sp>
        <p:sp>
          <p:nvSpPr>
            <p:cNvPr id="12" name="Rounded Rectangle 8">
              <a:extLst>
                <a:ext uri="{FF2B5EF4-FFF2-40B4-BE49-F238E27FC236}">
                  <a16:creationId xmlns:a16="http://schemas.microsoft.com/office/drawing/2014/main" id="{943DC68B-137B-3805-221A-0F79267F0413}"/>
                </a:ext>
              </a:extLst>
            </p:cNvPr>
            <p:cNvSpPr/>
            <p:nvPr/>
          </p:nvSpPr>
          <p:spPr>
            <a:xfrm>
              <a:off x="548640" y="2743200"/>
              <a:ext cx="3291840" cy="1417320"/>
            </a:xfrm>
            <a:prstGeom prst="roundRect">
              <a:avLst/>
            </a:prstGeom>
            <a:solidFill>
              <a:srgbClr val="2D37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00" b="1">
                  <a:solidFill>
                    <a:srgbClr val="FDE047"/>
                  </a:solidFill>
                </a:rPr>
                <a:t>Why important: </a:t>
              </a:r>
              <a:r>
                <a:rPr sz="950">
                  <a:solidFill>
                    <a:srgbClr val="FFFFFF"/>
                  </a:solidFill>
                </a:rPr>
                <a:t>India loses ₹80,000+ crores annually to climate disasters; 30M+ people displaced in a decade. 85% of evacuation failures stem from blind shelter allocation &amp; road cutoffs.</a:t>
              </a:r>
            </a:p>
          </p:txBody>
        </p:sp>
        <p:sp>
          <p:nvSpPr>
            <p:cNvPr id="13" name="Rounded Rectangle 9">
              <a:extLst>
                <a:ext uri="{FF2B5EF4-FFF2-40B4-BE49-F238E27FC236}">
                  <a16:creationId xmlns:a16="http://schemas.microsoft.com/office/drawing/2014/main" id="{DE59D1B1-0887-8688-799D-9D77DF598CD5}"/>
                </a:ext>
              </a:extLst>
            </p:cNvPr>
            <p:cNvSpPr/>
            <p:nvPr/>
          </p:nvSpPr>
          <p:spPr>
            <a:xfrm>
              <a:off x="548640" y="4297680"/>
              <a:ext cx="3291840" cy="1234440"/>
            </a:xfrm>
            <a:prstGeom prst="roundRect">
              <a:avLst/>
            </a:prstGeom>
            <a:solidFill>
              <a:srgbClr val="2D37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00" b="1">
                  <a:solidFill>
                    <a:srgbClr val="FDE047"/>
                  </a:solidFill>
                </a:rPr>
                <a:t>Solution: </a:t>
              </a:r>
              <a:r>
                <a:rPr sz="950">
                  <a:solidFill>
                    <a:srgbClr val="FFFFFF"/>
                  </a:solidFill>
                </a:rPr>
                <a:t>GeoAI system identifies dynamic red zones, models shelter carrying capacity, and optimizes preemptive relocation for vulnerable citizens.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0D6E3B4-D4AB-E2FA-0877-DF57ADBA33FE}"/>
                </a:ext>
              </a:extLst>
            </p:cNvPr>
            <p:cNvSpPr/>
            <p:nvPr/>
          </p:nvSpPr>
          <p:spPr>
            <a:xfrm>
              <a:off x="548640" y="5580665"/>
              <a:ext cx="3291840" cy="631742"/>
            </a:xfrm>
            <a:prstGeom prst="ellipse">
              <a:avLst/>
            </a:prstGeom>
            <a:noFill/>
            <a:ln w="19050"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Prototype</a:t>
              </a:r>
            </a:p>
            <a:p>
              <a:pPr algn="ctr">
                <a:defRPr sz="1050" b="1">
                  <a:solidFill>
                    <a:srgbClr val="2563EB"/>
                  </a:solidFill>
                </a:defRPr>
              </a:pPr>
              <a:r>
                <a:t>Video  |  Website  |  GitHub</a:t>
              </a:r>
            </a:p>
          </p:txBody>
        </p:sp>
        <p:sp>
          <p:nvSpPr>
            <p:cNvPr id="15" name="Rounded Rectangle 11">
              <a:extLst>
                <a:ext uri="{FF2B5EF4-FFF2-40B4-BE49-F238E27FC236}">
                  <a16:creationId xmlns:a16="http://schemas.microsoft.com/office/drawing/2014/main" id="{DD4F1353-8A3F-2376-9B6A-AC21A348572F}"/>
                </a:ext>
              </a:extLst>
            </p:cNvPr>
            <p:cNvSpPr/>
            <p:nvPr/>
          </p:nvSpPr>
          <p:spPr>
            <a:xfrm>
              <a:off x="4572000" y="1143000"/>
              <a:ext cx="3108960" cy="594360"/>
            </a:xfrm>
            <a:prstGeom prst="roundRect">
              <a:avLst/>
            </a:prstGeom>
            <a:solidFill>
              <a:srgbClr val="1B365D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FFFFFF"/>
                  </a:solidFill>
                </a:defRPr>
              </a:pPr>
              <a:r>
                <a:t>CORE INNOVATION</a:t>
              </a:r>
              <a:br/>
              <a:r>
                <a:t>GeoAI Relocation Decision Engine</a:t>
              </a:r>
            </a:p>
          </p:txBody>
        </p:sp>
        <p:sp>
          <p:nvSpPr>
            <p:cNvPr id="16" name="Rounded Rectangle 12">
              <a:extLst>
                <a:ext uri="{FF2B5EF4-FFF2-40B4-BE49-F238E27FC236}">
                  <a16:creationId xmlns:a16="http://schemas.microsoft.com/office/drawing/2014/main" id="{BAB210BF-7700-9F9C-FF9A-8DF7A894F4ED}"/>
                </a:ext>
              </a:extLst>
            </p:cNvPr>
            <p:cNvSpPr/>
            <p:nvPr/>
          </p:nvSpPr>
          <p:spPr>
            <a:xfrm>
              <a:off x="4023360" y="1828800"/>
              <a:ext cx="4206240" cy="685800"/>
            </a:xfrm>
            <a:prstGeom prst="roundRect">
              <a:avLst/>
            </a:prstGeom>
            <a:solidFill>
              <a:srgbClr val="2D3748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DE047"/>
                  </a:solidFill>
                </a:defRPr>
              </a:pPr>
              <a:r>
                <a:t>PRIMARY FUNCTIONS</a:t>
              </a:r>
              <a:br/>
              <a:r>
                <a:t>MULTI-HAZARD RED-ZONING  |  CAPACITY-CONSTRAINED ROUTING</a:t>
              </a:r>
            </a:p>
          </p:txBody>
        </p:sp>
        <p:sp>
          <p:nvSpPr>
            <p:cNvPr id="17" name="Rounded Rectangle 13">
              <a:extLst>
                <a:ext uri="{FF2B5EF4-FFF2-40B4-BE49-F238E27FC236}">
                  <a16:creationId xmlns:a16="http://schemas.microsoft.com/office/drawing/2014/main" id="{9C8AC12A-E093-9D1F-FD53-2050C5752E07}"/>
                </a:ext>
              </a:extLst>
            </p:cNvPr>
            <p:cNvSpPr/>
            <p:nvPr/>
          </p:nvSpPr>
          <p:spPr>
            <a:xfrm>
              <a:off x="4032504" y="2606040"/>
              <a:ext cx="4206240" cy="1325880"/>
            </a:xfrm>
            <a:prstGeom prst="roundRect">
              <a:avLst/>
            </a:prstGeom>
            <a:solidFill>
              <a:srgbClr val="F1F5F9"/>
            </a:solidFill>
            <a:ln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1B365D"/>
                  </a:solidFill>
                </a:defRPr>
              </a:pPr>
              <a:r>
                <a:rPr lang="en-US" dirty="0"/>
                <a:t>SAFETY &amp; VULNERABILITY COMPLIANCE</a:t>
              </a:r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dirty="0"/>
            </a:p>
          </p:txBody>
        </p:sp>
        <p:sp>
          <p:nvSpPr>
            <p:cNvPr id="18" name="Rounded Rectangle 14">
              <a:extLst>
                <a:ext uri="{FF2B5EF4-FFF2-40B4-BE49-F238E27FC236}">
                  <a16:creationId xmlns:a16="http://schemas.microsoft.com/office/drawing/2014/main" id="{8B83523F-86D1-6E87-07D8-2480FBD9273A}"/>
                </a:ext>
              </a:extLst>
            </p:cNvPr>
            <p:cNvSpPr/>
            <p:nvPr/>
          </p:nvSpPr>
          <p:spPr>
            <a:xfrm>
              <a:off x="4123944" y="2880360"/>
              <a:ext cx="1298448" cy="960120"/>
            </a:xfrm>
            <a:prstGeom prst="roundRect">
              <a:avLst/>
            </a:prstGeom>
            <a:solidFill>
              <a:srgbClr val="FEF2F2"/>
            </a:solidFill>
            <a:ln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EF4444"/>
                  </a:solidFill>
                </a:defRPr>
              </a:pPr>
              <a:r>
                <a:rPr dirty="0" err="1"/>
                <a:t>SoVI</a:t>
              </a:r>
              <a:r>
                <a:rPr dirty="0"/>
                <a:t> Vulnerability Index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rPr dirty="0"/>
                <a:t>Prioritizes elderly, disabled, infants &amp; kuccha houses</a:t>
              </a:r>
            </a:p>
          </p:txBody>
        </p:sp>
        <p:sp>
          <p:nvSpPr>
            <p:cNvPr id="19" name="Rounded Rectangle 15">
              <a:extLst>
                <a:ext uri="{FF2B5EF4-FFF2-40B4-BE49-F238E27FC236}">
                  <a16:creationId xmlns:a16="http://schemas.microsoft.com/office/drawing/2014/main" id="{60EDFD8B-0708-F96C-66D4-C1B07F53A6A1}"/>
                </a:ext>
              </a:extLst>
            </p:cNvPr>
            <p:cNvSpPr/>
            <p:nvPr/>
          </p:nvSpPr>
          <p:spPr>
            <a:xfrm>
              <a:off x="5468112" y="2880360"/>
              <a:ext cx="1298448" cy="960120"/>
            </a:xfrm>
            <a:prstGeom prst="roundRect">
              <a:avLst/>
            </a:prstGeom>
            <a:solidFill>
              <a:srgbClr val="FEF2F2"/>
            </a:solidFill>
            <a:ln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EF4444"/>
                  </a:solidFill>
                </a:defRPr>
              </a:pPr>
              <a:r>
                <a:t>Road Severance AI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t>Detects submerged roads &amp; landslides, routes convoys safely</a:t>
              </a:r>
            </a:p>
          </p:txBody>
        </p:sp>
        <p:sp>
          <p:nvSpPr>
            <p:cNvPr id="20" name="Rounded Rectangle 16">
              <a:extLst>
                <a:ext uri="{FF2B5EF4-FFF2-40B4-BE49-F238E27FC236}">
                  <a16:creationId xmlns:a16="http://schemas.microsoft.com/office/drawing/2014/main" id="{5D25A3BF-0747-EFD9-F3AC-E2EDCDE2AB23}"/>
                </a:ext>
              </a:extLst>
            </p:cNvPr>
            <p:cNvSpPr/>
            <p:nvPr/>
          </p:nvSpPr>
          <p:spPr>
            <a:xfrm>
              <a:off x="6821424" y="2880360"/>
              <a:ext cx="1298448" cy="960120"/>
            </a:xfrm>
            <a:prstGeom prst="roundRect">
              <a:avLst/>
            </a:prstGeom>
            <a:solidFill>
              <a:srgbClr val="FEF2F2"/>
            </a:solidFill>
            <a:ln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EF4444"/>
                  </a:solidFill>
                </a:defRPr>
              </a:pPr>
              <a:r>
                <a:t>Emergency Dispatch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t>One-click alert broadcast to SDMA, NDRF &amp; Aapda Mitra</a:t>
              </a:r>
            </a:p>
          </p:txBody>
        </p:sp>
        <p:sp>
          <p:nvSpPr>
            <p:cNvPr id="21" name="Rounded Rectangle 17">
              <a:extLst>
                <a:ext uri="{FF2B5EF4-FFF2-40B4-BE49-F238E27FC236}">
                  <a16:creationId xmlns:a16="http://schemas.microsoft.com/office/drawing/2014/main" id="{2401A999-77F1-4251-9F45-9598F0EF8BFB}"/>
                </a:ext>
              </a:extLst>
            </p:cNvPr>
            <p:cNvSpPr/>
            <p:nvPr/>
          </p:nvSpPr>
          <p:spPr>
            <a:xfrm>
              <a:off x="4041648" y="4023360"/>
              <a:ext cx="4206240" cy="1463040"/>
            </a:xfrm>
            <a:prstGeom prst="roundRect">
              <a:avLst/>
            </a:prstGeom>
            <a:solidFill>
              <a:srgbClr val="F1F5F9"/>
            </a:solidFill>
            <a:ln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1B365D"/>
                  </a:solidFill>
                </a:defRPr>
              </a:pPr>
              <a:r>
                <a:rPr dirty="0"/>
                <a:t>MONITORING &amp; CAPACITY SUPPORT</a:t>
              </a: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dirty="0"/>
            </a:p>
          </p:txBody>
        </p:sp>
        <p:sp>
          <p:nvSpPr>
            <p:cNvPr id="22" name="Rounded Rectangle 18">
              <a:extLst>
                <a:ext uri="{FF2B5EF4-FFF2-40B4-BE49-F238E27FC236}">
                  <a16:creationId xmlns:a16="http://schemas.microsoft.com/office/drawing/2014/main" id="{1A15BF3C-A11D-79D1-E8D6-7E4F36404911}"/>
                </a:ext>
              </a:extLst>
            </p:cNvPr>
            <p:cNvSpPr/>
            <p:nvPr/>
          </p:nvSpPr>
          <p:spPr>
            <a:xfrm>
              <a:off x="4114800" y="4297680"/>
              <a:ext cx="1298448" cy="1051560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16A3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16A34A"/>
                  </a:solidFill>
                </a:defRPr>
              </a:pPr>
              <a:r>
                <a:t>Carrying Capacity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t>Live tracking of beds, water, food &amp; sanitation limits</a:t>
              </a:r>
            </a:p>
          </p:txBody>
        </p:sp>
        <p:sp>
          <p:nvSpPr>
            <p:cNvPr id="23" name="Rounded Rectangle 19">
              <a:extLst>
                <a:ext uri="{FF2B5EF4-FFF2-40B4-BE49-F238E27FC236}">
                  <a16:creationId xmlns:a16="http://schemas.microsoft.com/office/drawing/2014/main" id="{DFD850C7-98B5-AAAC-848F-AE689A0919CE}"/>
                </a:ext>
              </a:extLst>
            </p:cNvPr>
            <p:cNvSpPr/>
            <p:nvPr/>
          </p:nvSpPr>
          <p:spPr>
            <a:xfrm>
              <a:off x="5468112" y="4297680"/>
              <a:ext cx="1298448" cy="1051560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16A3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16A34A"/>
                  </a:solidFill>
                </a:defRPr>
              </a:pPr>
              <a:r>
                <a:t>What-If Simulation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t>Simulates dam burst &amp; rainfall escalation scenarios</a:t>
              </a:r>
            </a:p>
          </p:txBody>
        </p:sp>
        <p:sp>
          <p:nvSpPr>
            <p:cNvPr id="24" name="Rounded Rectangle 20">
              <a:extLst>
                <a:ext uri="{FF2B5EF4-FFF2-40B4-BE49-F238E27FC236}">
                  <a16:creationId xmlns:a16="http://schemas.microsoft.com/office/drawing/2014/main" id="{29192469-DEEE-9A16-4BF7-7565628BC619}"/>
                </a:ext>
              </a:extLst>
            </p:cNvPr>
            <p:cNvSpPr/>
            <p:nvPr/>
          </p:nvSpPr>
          <p:spPr>
            <a:xfrm>
              <a:off x="6821424" y="4297680"/>
              <a:ext cx="1298448" cy="1051560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16A3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16A34A"/>
                  </a:solidFill>
                </a:defRPr>
              </a:pPr>
              <a:r>
                <a:t>Explainable AI (XAI)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t>SHAP transparency for District Magistrate approvals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07B3A3-74D0-04A4-56E7-E2058EAE120C}"/>
                </a:ext>
              </a:extLst>
            </p:cNvPr>
            <p:cNvSpPr txBox="1"/>
            <p:nvPr/>
          </p:nvSpPr>
          <p:spPr>
            <a:xfrm>
              <a:off x="8412480" y="1005840"/>
              <a:ext cx="32918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100" b="1">
                  <a:solidFill>
                    <a:srgbClr val="EF4444"/>
                  </a:solidFill>
                </a:rPr>
                <a:t>Risk  </a:t>
              </a:r>
              <a:r>
                <a:rPr sz="900">
                  <a:solidFill>
                    <a:srgbClr val="64748B"/>
                  </a:solidFill>
                </a:rPr>
                <a:t>v  </a:t>
              </a:r>
              <a:r>
                <a:rPr sz="1100" b="1">
                  <a:solidFill>
                    <a:srgbClr val="16A34A"/>
                  </a:solidFill>
                </a:rPr>
                <a:t>Solution</a:t>
              </a:r>
            </a:p>
          </p:txBody>
        </p:sp>
        <p:sp>
          <p:nvSpPr>
            <p:cNvPr id="27" name="Rounded Rectangle 23">
              <a:extLst>
                <a:ext uri="{FF2B5EF4-FFF2-40B4-BE49-F238E27FC236}">
                  <a16:creationId xmlns:a16="http://schemas.microsoft.com/office/drawing/2014/main" id="{EF12F81D-2CDD-A72E-C1B3-ABBFD9D34C4A}"/>
                </a:ext>
              </a:extLst>
            </p:cNvPr>
            <p:cNvSpPr/>
            <p:nvPr/>
          </p:nvSpPr>
          <p:spPr>
            <a:xfrm>
              <a:off x="8412480" y="1371600"/>
              <a:ext cx="1508760" cy="685800"/>
            </a:xfrm>
            <a:prstGeom prst="roundRect">
              <a:avLst/>
            </a:prstGeom>
            <a:solidFill>
              <a:srgbClr val="EF444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Chaotic Relocation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7610D46-9068-1F82-7322-9C36349CB741}"/>
                </a:ext>
              </a:extLst>
            </p:cNvPr>
            <p:cNvSpPr txBox="1"/>
            <p:nvPr/>
          </p:nvSpPr>
          <p:spPr>
            <a:xfrm>
              <a:off x="9921240" y="1371600"/>
              <a:ext cx="274320" cy="6858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0F172A"/>
                  </a:solidFill>
                </a:defRPr>
              </a:pPr>
              <a:r>
                <a:t>➔</a:t>
              </a:r>
            </a:p>
          </p:txBody>
        </p:sp>
        <p:sp>
          <p:nvSpPr>
            <p:cNvPr id="29" name="Rounded Rectangle 25">
              <a:extLst>
                <a:ext uri="{FF2B5EF4-FFF2-40B4-BE49-F238E27FC236}">
                  <a16:creationId xmlns:a16="http://schemas.microsoft.com/office/drawing/2014/main" id="{DE2FB757-14DF-4EDD-8A96-7331C833AC66}"/>
                </a:ext>
              </a:extLst>
            </p:cNvPr>
            <p:cNvSpPr/>
            <p:nvPr/>
          </p:nvSpPr>
          <p:spPr>
            <a:xfrm>
              <a:off x="10195559" y="1371600"/>
              <a:ext cx="1508760" cy="685800"/>
            </a:xfrm>
            <a:prstGeom prst="roundRect">
              <a:avLst/>
            </a:prstGeom>
            <a:solidFill>
              <a:srgbClr val="16A34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Capacity-Aware Relocation</a:t>
              </a:r>
            </a:p>
          </p:txBody>
        </p:sp>
        <p:sp>
          <p:nvSpPr>
            <p:cNvPr id="30" name="Rounded Rectangle 26">
              <a:extLst>
                <a:ext uri="{FF2B5EF4-FFF2-40B4-BE49-F238E27FC236}">
                  <a16:creationId xmlns:a16="http://schemas.microsoft.com/office/drawing/2014/main" id="{7DEDEC27-E910-F904-D88B-BB5A5E2AAC16}"/>
                </a:ext>
              </a:extLst>
            </p:cNvPr>
            <p:cNvSpPr/>
            <p:nvPr/>
          </p:nvSpPr>
          <p:spPr>
            <a:xfrm>
              <a:off x="8412480" y="2286000"/>
              <a:ext cx="1508760" cy="685800"/>
            </a:xfrm>
            <a:prstGeom prst="roundRect">
              <a:avLst/>
            </a:prstGeom>
            <a:solidFill>
              <a:srgbClr val="EF444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Shelter Overcrowding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D591DE4-F028-C2AD-B8D1-26160D6EF545}"/>
                </a:ext>
              </a:extLst>
            </p:cNvPr>
            <p:cNvSpPr txBox="1"/>
            <p:nvPr/>
          </p:nvSpPr>
          <p:spPr>
            <a:xfrm>
              <a:off x="9921240" y="2286000"/>
              <a:ext cx="274320" cy="6858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0F172A"/>
                  </a:solidFill>
                </a:defRPr>
              </a:pPr>
              <a:r>
                <a:t>➔</a:t>
              </a:r>
            </a:p>
          </p:txBody>
        </p:sp>
        <p:sp>
          <p:nvSpPr>
            <p:cNvPr id="32" name="Rounded Rectangle 28">
              <a:extLst>
                <a:ext uri="{FF2B5EF4-FFF2-40B4-BE49-F238E27FC236}">
                  <a16:creationId xmlns:a16="http://schemas.microsoft.com/office/drawing/2014/main" id="{3D49572A-43A4-9749-6DF1-E7A1B692E78F}"/>
                </a:ext>
              </a:extLst>
            </p:cNvPr>
            <p:cNvSpPr/>
            <p:nvPr/>
          </p:nvSpPr>
          <p:spPr>
            <a:xfrm>
              <a:off x="10195559" y="2286000"/>
              <a:ext cx="1508760" cy="685800"/>
            </a:xfrm>
            <a:prstGeom prst="roundRect">
              <a:avLst/>
            </a:prstGeom>
            <a:solidFill>
              <a:srgbClr val="16A34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Dynamic Carrying Capacity</a:t>
              </a:r>
            </a:p>
          </p:txBody>
        </p:sp>
        <p:sp>
          <p:nvSpPr>
            <p:cNvPr id="33" name="Rounded Rectangle 29">
              <a:extLst>
                <a:ext uri="{FF2B5EF4-FFF2-40B4-BE49-F238E27FC236}">
                  <a16:creationId xmlns:a16="http://schemas.microsoft.com/office/drawing/2014/main" id="{9AC75B49-1FC2-EEE9-081C-6FC6B81BBD55}"/>
                </a:ext>
              </a:extLst>
            </p:cNvPr>
            <p:cNvSpPr/>
            <p:nvPr/>
          </p:nvSpPr>
          <p:spPr>
            <a:xfrm>
              <a:off x="8412480" y="3200400"/>
              <a:ext cx="1508760" cy="685800"/>
            </a:xfrm>
            <a:prstGeom prst="roundRect">
              <a:avLst/>
            </a:prstGeom>
            <a:solidFill>
              <a:srgbClr val="EF444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Black-Box AI Distrust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EADFA70-136C-A0E4-EBC7-CA48B2185FB9}"/>
                </a:ext>
              </a:extLst>
            </p:cNvPr>
            <p:cNvSpPr txBox="1"/>
            <p:nvPr/>
          </p:nvSpPr>
          <p:spPr>
            <a:xfrm>
              <a:off x="9921240" y="3200400"/>
              <a:ext cx="274320" cy="6858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0F172A"/>
                  </a:solidFill>
                </a:defRPr>
              </a:pPr>
              <a:r>
                <a:t>➔</a:t>
              </a:r>
            </a:p>
          </p:txBody>
        </p:sp>
        <p:sp>
          <p:nvSpPr>
            <p:cNvPr id="35" name="Rounded Rectangle 31">
              <a:extLst>
                <a:ext uri="{FF2B5EF4-FFF2-40B4-BE49-F238E27FC236}">
                  <a16:creationId xmlns:a16="http://schemas.microsoft.com/office/drawing/2014/main" id="{93D2F6CB-B548-2688-60BF-80B763C23D8F}"/>
                </a:ext>
              </a:extLst>
            </p:cNvPr>
            <p:cNvSpPr/>
            <p:nvPr/>
          </p:nvSpPr>
          <p:spPr>
            <a:xfrm>
              <a:off x="10195559" y="3200400"/>
              <a:ext cx="1508760" cy="685800"/>
            </a:xfrm>
            <a:prstGeom prst="roundRect">
              <a:avLst/>
            </a:prstGeom>
            <a:solidFill>
              <a:srgbClr val="16A34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Explainable AI (SHAP Metrics)</a:t>
              </a:r>
            </a:p>
          </p:txBody>
        </p:sp>
        <p:sp>
          <p:nvSpPr>
            <p:cNvPr id="36" name="Rounded Rectangle 32">
              <a:extLst>
                <a:ext uri="{FF2B5EF4-FFF2-40B4-BE49-F238E27FC236}">
                  <a16:creationId xmlns:a16="http://schemas.microsoft.com/office/drawing/2014/main" id="{510A31B6-FAF5-78EC-3DA0-C8452234E845}"/>
                </a:ext>
              </a:extLst>
            </p:cNvPr>
            <p:cNvSpPr/>
            <p:nvPr/>
          </p:nvSpPr>
          <p:spPr>
            <a:xfrm>
              <a:off x="8412480" y="4297680"/>
              <a:ext cx="3291840" cy="1828800"/>
            </a:xfrm>
            <a:prstGeom prst="roundRect">
              <a:avLst/>
            </a:prstGeom>
            <a:solidFill>
              <a:srgbClr val="F8FAFC"/>
            </a:solidFill>
            <a:ln>
              <a:solidFill>
                <a:srgbClr val="1B365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1B365D"/>
                  </a:solidFill>
                </a:defRPr>
              </a:pPr>
              <a:r>
                <a:rPr dirty="0"/>
                <a:t>⚡ EXAMPLE DECISION PIPELINE</a:t>
              </a:r>
            </a:p>
            <a:p>
              <a:pPr>
                <a:defRPr sz="800">
                  <a:solidFill>
                    <a:srgbClr val="0F172A"/>
                  </a:solidFill>
                </a:defRPr>
              </a:pPr>
              <a:r>
                <a:rPr dirty="0"/>
                <a:t>• Village A: Critical Risk (1,200 people)</a:t>
              </a:r>
              <a:br>
                <a:rPr dirty="0"/>
              </a:br>
              <a:r>
                <a:rPr dirty="0"/>
                <a:t>• Shelter B: Capacity 2,500 | Available 1,800</a:t>
              </a:r>
              <a:br>
                <a:rPr dirty="0"/>
              </a:br>
              <a:r>
                <a:rPr dirty="0"/>
                <a:t>• Action: RELOCATE 1,200 (Priority: IMMEDIATE)</a:t>
              </a:r>
              <a:br>
                <a:rPr dirty="0"/>
              </a:br>
              <a:r>
                <a:rPr dirty="0"/>
                <a:t>• Route: State Hwy 4 (Clear of Inundation)</a:t>
              </a:r>
            </a:p>
          </p:txBody>
        </p:sp>
      </p:grpSp>
      <p:sp>
        <p:nvSpPr>
          <p:cNvPr id="38" name="Oval 37" descr="Your startup LOGO">
            <a:extLst>
              <a:ext uri="{FF2B5EF4-FFF2-40B4-BE49-F238E27FC236}">
                <a16:creationId xmlns:a16="http://schemas.microsoft.com/office/drawing/2014/main" id="{1007224E-9BE8-0EEF-05AE-F7854F451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BharatBytes</a:t>
            </a:r>
            <a:endParaRPr lang="en-IN" sz="11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26A6C8-6D72-AB1E-C5EF-432024371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1" name="Footer Placeholder 6">
            <a:extLst>
              <a:ext uri="{FF2B5EF4-FFF2-40B4-BE49-F238E27FC236}">
                <a16:creationId xmlns:a16="http://schemas.microsoft.com/office/drawing/2014/main" id="{90CD0630-BCEC-7632-75DD-690E7066BB04}"/>
              </a:ext>
            </a:extLst>
          </p:cNvPr>
          <p:cNvSpPr txBox="1">
            <a:spLocks/>
          </p:cNvSpPr>
          <p:nvPr/>
        </p:nvSpPr>
        <p:spPr>
          <a:xfrm>
            <a:off x="4800600" y="65087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29EF8023-62F3-776A-E431-CCA9EFB81BE9}"/>
              </a:ext>
            </a:extLst>
          </p:cNvPr>
          <p:cNvSpPr txBox="1">
            <a:spLocks/>
          </p:cNvSpPr>
          <p:nvPr/>
        </p:nvSpPr>
        <p:spPr>
          <a:xfrm>
            <a:off x="8890000" y="65087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91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br>
              <a:rPr lang="en-US" sz="2600" b="1" dirty="0">
                <a:solidFill>
                  <a:srgbClr val="1F2D3D"/>
                </a:solidFill>
                <a:latin typeface="Aptos Display"/>
              </a:rPr>
            </a:br>
            <a:r>
              <a:rPr sz="2600" b="1" dirty="0">
                <a:solidFill>
                  <a:srgbClr val="1F2D3D"/>
                </a:solidFill>
                <a:latin typeface="Aptos Display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sz="1000">
                <a:solidFill>
                  <a:srgbClr val="FFFFFF"/>
                </a:solidFill>
                <a:latin typeface="Aptos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75A2407-25F1-C089-932E-DE9DF5436692}"/>
              </a:ext>
            </a:extLst>
          </p:cNvPr>
          <p:cNvGrpSpPr/>
          <p:nvPr/>
        </p:nvGrpSpPr>
        <p:grpSpPr>
          <a:xfrm>
            <a:off x="426720" y="1097280"/>
            <a:ext cx="11155680" cy="5029200"/>
            <a:chOff x="548640" y="1097280"/>
            <a:chExt cx="11155680" cy="502920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369A79-B24E-EB59-26AC-7AB10C81D6E5}"/>
                </a:ext>
              </a:extLst>
            </p:cNvPr>
            <p:cNvSpPr txBox="1"/>
            <p:nvPr/>
          </p:nvSpPr>
          <p:spPr>
            <a:xfrm>
              <a:off x="548640" y="1097280"/>
              <a:ext cx="36576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1B365D"/>
                  </a:solidFill>
                  <a:latin typeface="Calibri"/>
                </a:defRPr>
              </a:pPr>
              <a:r>
                <a:t>METHODOLOGY &amp; PROCESS OF</a:t>
              </a:r>
              <a:br/>
              <a:r>
                <a:t>IMPLEMENTATION</a:t>
              </a:r>
            </a:p>
          </p:txBody>
        </p:sp>
        <p:sp>
          <p:nvSpPr>
            <p:cNvPr id="10" name="Rounded Rectangle 8">
              <a:extLst>
                <a:ext uri="{FF2B5EF4-FFF2-40B4-BE49-F238E27FC236}">
                  <a16:creationId xmlns:a16="http://schemas.microsoft.com/office/drawing/2014/main" id="{54582AC1-F96A-2967-1CA5-1169E5B86AAB}"/>
                </a:ext>
              </a:extLst>
            </p:cNvPr>
            <p:cNvSpPr/>
            <p:nvPr/>
          </p:nvSpPr>
          <p:spPr>
            <a:xfrm>
              <a:off x="548640" y="1737360"/>
              <a:ext cx="3657600" cy="658368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50" b="1">
                  <a:solidFill>
                    <a:srgbClr val="3B82F6"/>
                  </a:solidFill>
                </a:defRPr>
              </a:pPr>
              <a:r>
                <a:rPr dirty="0"/>
                <a:t>1. Data Ingestion &amp; Raster Prep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rPr dirty="0"/>
                <a:t>ISRO Bhuvan DEM, Sentinel-2, IMD rainfall &amp; OSM mesh.</a:t>
              </a:r>
            </a:p>
          </p:txBody>
        </p:sp>
        <p:sp>
          <p:nvSpPr>
            <p:cNvPr id="13" name="Rounded Rectangle 9">
              <a:extLst>
                <a:ext uri="{FF2B5EF4-FFF2-40B4-BE49-F238E27FC236}">
                  <a16:creationId xmlns:a16="http://schemas.microsoft.com/office/drawing/2014/main" id="{DB74C8E6-B5EB-DFA4-8069-57A078899516}"/>
                </a:ext>
              </a:extLst>
            </p:cNvPr>
            <p:cNvSpPr/>
            <p:nvPr/>
          </p:nvSpPr>
          <p:spPr>
            <a:xfrm>
              <a:off x="548640" y="2468880"/>
              <a:ext cx="3657600" cy="658368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50" b="1">
                  <a:solidFill>
                    <a:srgbClr val="EF4444"/>
                  </a:solidFill>
                </a:defRPr>
              </a:pPr>
              <a:r>
                <a:t>2. Dynamic GeoAI Red-Zone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XGBoost models slope instability &amp; flood inundation.</a:t>
              </a:r>
            </a:p>
          </p:txBody>
        </p:sp>
        <p:sp>
          <p:nvSpPr>
            <p:cNvPr id="14" name="Rounded Rectangle 10">
              <a:extLst>
                <a:ext uri="{FF2B5EF4-FFF2-40B4-BE49-F238E27FC236}">
                  <a16:creationId xmlns:a16="http://schemas.microsoft.com/office/drawing/2014/main" id="{0DCD7514-1EA2-7918-0B83-223CD0DC1503}"/>
                </a:ext>
              </a:extLst>
            </p:cNvPr>
            <p:cNvSpPr/>
            <p:nvPr/>
          </p:nvSpPr>
          <p:spPr>
            <a:xfrm>
              <a:off x="548640" y="3200400"/>
              <a:ext cx="3657600" cy="658368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D9770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50" b="1">
                  <a:solidFill>
                    <a:srgbClr val="D97706"/>
                  </a:solidFill>
                </a:defRPr>
              </a:pPr>
              <a:r>
                <a:t>3. Vulnerability Score (SoVI)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Demographic layer prioritizes elderly, infants &amp; disabled.</a:t>
              </a:r>
            </a:p>
          </p:txBody>
        </p:sp>
        <p:sp>
          <p:nvSpPr>
            <p:cNvPr id="15" name="Rounded Rectangle 11">
              <a:extLst>
                <a:ext uri="{FF2B5EF4-FFF2-40B4-BE49-F238E27FC236}">
                  <a16:creationId xmlns:a16="http://schemas.microsoft.com/office/drawing/2014/main" id="{E727BB64-2162-A2DF-1039-7FAF3FA02EF3}"/>
                </a:ext>
              </a:extLst>
            </p:cNvPr>
            <p:cNvSpPr/>
            <p:nvPr/>
          </p:nvSpPr>
          <p:spPr>
            <a:xfrm>
              <a:off x="548640" y="3931920"/>
              <a:ext cx="3657600" cy="658368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16A3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50" b="1">
                  <a:solidFill>
                    <a:srgbClr val="16A34A"/>
                  </a:solidFill>
                </a:defRPr>
              </a:pPr>
              <a:r>
                <a:t>4. Carrying Capacity Modeling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Live tracking of beds, water, ration &amp; medical staff.</a:t>
              </a:r>
            </a:p>
          </p:txBody>
        </p:sp>
        <p:sp>
          <p:nvSpPr>
            <p:cNvPr id="16" name="Rounded Rectangle 12">
              <a:extLst>
                <a:ext uri="{FF2B5EF4-FFF2-40B4-BE49-F238E27FC236}">
                  <a16:creationId xmlns:a16="http://schemas.microsoft.com/office/drawing/2014/main" id="{591EBF7F-24A9-863A-AA50-6FEDF941B7CF}"/>
                </a:ext>
              </a:extLst>
            </p:cNvPr>
            <p:cNvSpPr/>
            <p:nvPr/>
          </p:nvSpPr>
          <p:spPr>
            <a:xfrm>
              <a:off x="548640" y="4663440"/>
              <a:ext cx="3657600" cy="658368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A855F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50" b="1">
                  <a:solidFill>
                    <a:srgbClr val="A855F7"/>
                  </a:solidFill>
                </a:defRPr>
              </a:pPr>
              <a:r>
                <a:t>5. Capacity-Constrained Opt.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Google OR-Tools MILP calculates zero-overflow routes.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8969624-1FC8-9B0F-2A98-273376118351}"/>
                </a:ext>
              </a:extLst>
            </p:cNvPr>
            <p:cNvSpPr/>
            <p:nvPr/>
          </p:nvSpPr>
          <p:spPr>
            <a:xfrm>
              <a:off x="1005840" y="5486400"/>
              <a:ext cx="2743200" cy="640080"/>
            </a:xfrm>
            <a:prstGeom prst="ellipse">
              <a:avLst/>
            </a:prstGeom>
            <a:noFill/>
            <a:ln w="19050"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1"/>
              </a:pPr>
              <a:r>
                <a:t>Detailed Report</a:t>
              </a:r>
            </a:p>
            <a:p>
              <a:pPr algn="ctr">
                <a:defRPr sz="950" b="1">
                  <a:solidFill>
                    <a:srgbClr val="2563EB"/>
                  </a:solidFill>
                </a:defRPr>
              </a:pPr>
              <a:r>
                <a:t>Report  |  GitHub</a:t>
              </a:r>
            </a:p>
          </p:txBody>
        </p:sp>
        <p:sp>
          <p:nvSpPr>
            <p:cNvPr id="18" name="Rounded Rectangle 14">
              <a:extLst>
                <a:ext uri="{FF2B5EF4-FFF2-40B4-BE49-F238E27FC236}">
                  <a16:creationId xmlns:a16="http://schemas.microsoft.com/office/drawing/2014/main" id="{003C1B10-3945-A22B-D6C4-27A74A3908FA}"/>
                </a:ext>
              </a:extLst>
            </p:cNvPr>
            <p:cNvSpPr/>
            <p:nvPr/>
          </p:nvSpPr>
          <p:spPr>
            <a:xfrm>
              <a:off x="4389120" y="1188720"/>
              <a:ext cx="3840480" cy="4937760"/>
            </a:xfrm>
            <a:prstGeom prst="roundRect">
              <a:avLst/>
            </a:prstGeom>
            <a:solidFill>
              <a:srgbClr val="F1F5F9"/>
            </a:solidFill>
            <a:ln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50" b="1">
                  <a:solidFill>
                    <a:srgbClr val="1B365D"/>
                  </a:solidFill>
                </a:defRPr>
              </a:pPr>
              <a:r>
                <a:rPr sz="1400" dirty="0"/>
                <a:t>SYSTEM ARCHITECTURE &amp; PIPELINE</a:t>
              </a:r>
            </a:p>
            <a:p>
              <a:pPr>
                <a:spcBef>
                  <a:spcPts val="800"/>
                </a:spcBef>
                <a:defRPr sz="850" b="1">
                  <a:solidFill>
                    <a:srgbClr val="1B365D"/>
                  </a:solidFill>
                </a:defRPr>
              </a:pPr>
              <a:r>
                <a:rPr sz="1050" dirty="0"/>
                <a:t>🛰️ DATA FEEDS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rPr sz="1000" dirty="0"/>
                <a:t>ISRO Bhuvan • Sentinel-2 • IMD AWS • OpenStreetMap</a:t>
              </a:r>
            </a:p>
            <a:p>
              <a:pPr>
                <a:spcBef>
                  <a:spcPts val="800"/>
                </a:spcBef>
                <a:defRPr sz="850" b="1">
                  <a:solidFill>
                    <a:srgbClr val="1B365D"/>
                  </a:solidFill>
                </a:defRPr>
              </a:pPr>
              <a:r>
                <a:rPr sz="1050" dirty="0"/>
                <a:t>🤖 GEOAI &amp; VULNERABILITY LAYER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rPr sz="1000" dirty="0" err="1"/>
                <a:t>GeoPandas</a:t>
              </a:r>
              <a:r>
                <a:rPr sz="1000" dirty="0"/>
                <a:t> / </a:t>
              </a:r>
              <a:r>
                <a:rPr sz="1000" dirty="0" err="1"/>
                <a:t>PostGIS</a:t>
              </a:r>
              <a:r>
                <a:rPr sz="1000" dirty="0"/>
                <a:t> • </a:t>
              </a:r>
              <a:r>
                <a:rPr sz="1000" dirty="0" err="1"/>
                <a:t>XGBoost</a:t>
              </a:r>
              <a:r>
                <a:rPr sz="1000" dirty="0"/>
                <a:t> Multi-Hazard • Demographic </a:t>
              </a:r>
              <a:r>
                <a:rPr sz="1000" dirty="0" err="1"/>
                <a:t>SoVI</a:t>
              </a:r>
              <a:endParaRPr sz="1000" dirty="0"/>
            </a:p>
            <a:p>
              <a:pPr>
                <a:spcBef>
                  <a:spcPts val="800"/>
                </a:spcBef>
                <a:defRPr sz="850" b="1">
                  <a:solidFill>
                    <a:srgbClr val="1B365D"/>
                  </a:solidFill>
                </a:defRPr>
              </a:pPr>
              <a:r>
                <a:rPr sz="1050" dirty="0"/>
                <a:t>⚡ OPTIMIZATION ENGINE (MILP)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rPr sz="1000" dirty="0"/>
                <a:t>Google OR-Tools • Capacity Constraints • </a:t>
              </a:r>
              <a:r>
                <a:rPr sz="1000" dirty="0" err="1"/>
                <a:t>OSMNx</a:t>
              </a:r>
              <a:r>
                <a:rPr sz="1000" dirty="0"/>
                <a:t> Distance Matrix</a:t>
              </a:r>
            </a:p>
            <a:p>
              <a:pPr>
                <a:spcBef>
                  <a:spcPts val="800"/>
                </a:spcBef>
                <a:defRPr sz="850" b="1">
                  <a:solidFill>
                    <a:srgbClr val="1B365D"/>
                  </a:solidFill>
                </a:defRPr>
              </a:pPr>
              <a:r>
                <a:rPr sz="1050" dirty="0"/>
                <a:t>📊 COMMAND GIS &amp; DISPATCH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rPr sz="1000" dirty="0" err="1"/>
                <a:t>FastAPI</a:t>
              </a:r>
              <a:r>
                <a:rPr sz="1000" dirty="0"/>
                <a:t> Cloud Backend • React + Leaflet GIS • Field Mobile App</a:t>
              </a:r>
            </a:p>
            <a:p>
              <a:pPr>
                <a:spcBef>
                  <a:spcPts val="1000"/>
                </a:spcBef>
                <a:defRPr sz="800" b="1">
                  <a:solidFill>
                    <a:srgbClr val="D97706"/>
                  </a:solidFill>
                </a:defRPr>
              </a:pPr>
              <a:r>
                <a:rPr sz="1050" dirty="0"/>
                <a:t>📐 Linear Optimization Formulation:</a:t>
              </a:r>
              <a:br>
                <a:rPr sz="1050" dirty="0"/>
              </a:br>
              <a:r>
                <a:rPr sz="1050" dirty="0"/>
                <a:t>Minimize: Sum(</a:t>
              </a:r>
              <a:r>
                <a:rPr sz="1050" dirty="0" err="1"/>
                <a:t>x_ij</a:t>
              </a:r>
              <a:r>
                <a:rPr sz="1050" dirty="0"/>
                <a:t> * </a:t>
              </a:r>
              <a:r>
                <a:rPr sz="1050" dirty="0" err="1"/>
                <a:t>Dist_ij</a:t>
              </a:r>
              <a:r>
                <a:rPr sz="1050" dirty="0"/>
                <a:t> * </a:t>
              </a:r>
              <a:r>
                <a:rPr sz="1050" dirty="0" err="1"/>
                <a:t>Risk_i</a:t>
              </a:r>
              <a:r>
                <a:rPr sz="1050" dirty="0"/>
                <a:t>)</a:t>
              </a:r>
              <a:br>
                <a:rPr sz="1050" dirty="0"/>
              </a:br>
              <a:r>
                <a:rPr sz="1050" dirty="0"/>
                <a:t>Subject to: </a:t>
              </a:r>
              <a:r>
                <a:rPr sz="1050" dirty="0" err="1"/>
                <a:t>Sum_i</a:t>
              </a:r>
              <a:r>
                <a:rPr sz="1050" dirty="0"/>
                <a:t>(</a:t>
              </a:r>
              <a:r>
                <a:rPr sz="1050" dirty="0" err="1"/>
                <a:t>x_ij</a:t>
              </a:r>
              <a:r>
                <a:rPr sz="1050" dirty="0"/>
                <a:t>) &lt;= </a:t>
              </a:r>
              <a:r>
                <a:rPr sz="1050" dirty="0" err="1"/>
                <a:t>Capacity_j</a:t>
              </a:r>
              <a:r>
                <a:rPr sz="1050" dirty="0"/>
                <a:t>  (Zero Overflow)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0B263F-F3C0-6FE4-0EC7-8B0BE8C2749E}"/>
                </a:ext>
              </a:extLst>
            </p:cNvPr>
            <p:cNvSpPr txBox="1"/>
            <p:nvPr/>
          </p:nvSpPr>
          <p:spPr>
            <a:xfrm>
              <a:off x="8412480" y="1097280"/>
              <a:ext cx="32918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1B365D"/>
                  </a:solidFill>
                  <a:latin typeface="Calibri"/>
                </a:defRPr>
              </a:pPr>
              <a:r>
                <a:t>TECHNOLOGIES USED</a:t>
              </a:r>
            </a:p>
          </p:txBody>
        </p:sp>
        <p:sp>
          <p:nvSpPr>
            <p:cNvPr id="20" name="Rounded Rectangle 16">
              <a:extLst>
                <a:ext uri="{FF2B5EF4-FFF2-40B4-BE49-F238E27FC236}">
                  <a16:creationId xmlns:a16="http://schemas.microsoft.com/office/drawing/2014/main" id="{235E6DD6-AF59-696B-B84B-E1BCA1186D7D}"/>
                </a:ext>
              </a:extLst>
            </p:cNvPr>
            <p:cNvSpPr/>
            <p:nvPr/>
          </p:nvSpPr>
          <p:spPr>
            <a:xfrm>
              <a:off x="8412480" y="1554480"/>
              <a:ext cx="3291840" cy="804672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1665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166534"/>
                  </a:solidFill>
                </a:defRPr>
              </a:pPr>
              <a:r>
                <a:t>FrontEnd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React and TailwindCSS are used for the frontend GIS dashboard.</a:t>
              </a:r>
            </a:p>
          </p:txBody>
        </p:sp>
        <p:sp>
          <p:nvSpPr>
            <p:cNvPr id="21" name="Rounded Rectangle 17">
              <a:extLst>
                <a:ext uri="{FF2B5EF4-FFF2-40B4-BE49-F238E27FC236}">
                  <a16:creationId xmlns:a16="http://schemas.microsoft.com/office/drawing/2014/main" id="{DBA85D96-5AC3-C0A9-C36D-14F64B66807D}"/>
                </a:ext>
              </a:extLst>
            </p:cNvPr>
            <p:cNvSpPr/>
            <p:nvPr/>
          </p:nvSpPr>
          <p:spPr>
            <a:xfrm>
              <a:off x="8412480" y="2468880"/>
              <a:ext cx="3291840" cy="804672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B453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B45309"/>
                  </a:solidFill>
                </a:defRPr>
              </a:pPr>
              <a:r>
                <a:t>BackEnd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FastAPI, GeoPandas &amp; PostGIS are used for spatial data processing.</a:t>
              </a:r>
            </a:p>
          </p:txBody>
        </p:sp>
        <p:sp>
          <p:nvSpPr>
            <p:cNvPr id="22" name="Rounded Rectangle 18">
              <a:extLst>
                <a:ext uri="{FF2B5EF4-FFF2-40B4-BE49-F238E27FC236}">
                  <a16:creationId xmlns:a16="http://schemas.microsoft.com/office/drawing/2014/main" id="{6F833FD6-88B7-61B8-738D-F329BA8179D1}"/>
                </a:ext>
              </a:extLst>
            </p:cNvPr>
            <p:cNvSpPr/>
            <p:nvPr/>
          </p:nvSpPr>
          <p:spPr>
            <a:xfrm>
              <a:off x="8412480" y="3383280"/>
              <a:ext cx="3291840" cy="804672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7E22C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7E22CE"/>
                  </a:solidFill>
                </a:defRPr>
              </a:pPr>
              <a:r>
                <a:t>Optimization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Google OR-Tools (MILP) &amp; OSMNx are used for capacity routing.</a:t>
              </a:r>
            </a:p>
          </p:txBody>
        </p:sp>
        <p:sp>
          <p:nvSpPr>
            <p:cNvPr id="23" name="Rounded Rectangle 19">
              <a:extLst>
                <a:ext uri="{FF2B5EF4-FFF2-40B4-BE49-F238E27FC236}">
                  <a16:creationId xmlns:a16="http://schemas.microsoft.com/office/drawing/2014/main" id="{64AD8A09-35A1-6C73-228B-A1A9FAA2B2A2}"/>
                </a:ext>
              </a:extLst>
            </p:cNvPr>
            <p:cNvSpPr/>
            <p:nvPr/>
          </p:nvSpPr>
          <p:spPr>
            <a:xfrm>
              <a:off x="8412480" y="4297680"/>
              <a:ext cx="3291840" cy="804672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1E40A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1E40AF"/>
                  </a:solidFill>
                </a:defRPr>
              </a:pPr>
              <a:r>
                <a:t>Deployment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Render, Vercel &amp; Cloud PostgreSQL are used for deployment.</a:t>
              </a:r>
            </a:p>
          </p:txBody>
        </p:sp>
        <p:sp>
          <p:nvSpPr>
            <p:cNvPr id="24" name="Rounded Rectangle 20">
              <a:extLst>
                <a:ext uri="{FF2B5EF4-FFF2-40B4-BE49-F238E27FC236}">
                  <a16:creationId xmlns:a16="http://schemas.microsoft.com/office/drawing/2014/main" id="{3B2ED74F-7E01-1EDD-A2A9-5F7F7119E17D}"/>
                </a:ext>
              </a:extLst>
            </p:cNvPr>
            <p:cNvSpPr/>
            <p:nvPr/>
          </p:nvSpPr>
          <p:spPr>
            <a:xfrm>
              <a:off x="8412480" y="5212080"/>
              <a:ext cx="3291840" cy="804672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BE123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BE123C"/>
                  </a:solidFill>
                </a:defRPr>
              </a:pPr>
              <a:r>
                <a:t>Data Feeds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ISRO Bhuvan, Sentinel-2, IMD AWS API, and OpenStreetMap.</a:t>
              </a:r>
            </a:p>
          </p:txBody>
        </p:sp>
      </p:grpSp>
      <p:sp>
        <p:nvSpPr>
          <p:cNvPr id="26" name="Oval 25" descr="Your startup LOGO">
            <a:extLst>
              <a:ext uri="{FF2B5EF4-FFF2-40B4-BE49-F238E27FC236}">
                <a16:creationId xmlns:a16="http://schemas.microsoft.com/office/drawing/2014/main" id="{C54B914E-93C6-CC3D-C8DC-AECD743058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BharatBytes</a:t>
            </a:r>
            <a:endParaRPr lang="en-IN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FD31AF-2902-DB63-5489-26A6029AA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855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357D15B-0B19-0B67-22CB-57E48E69ECB5}"/>
              </a:ext>
            </a:extLst>
          </p:cNvPr>
          <p:cNvSpPr txBox="1">
            <a:spLocks/>
          </p:cNvSpPr>
          <p:nvPr/>
        </p:nvSpPr>
        <p:spPr>
          <a:xfrm>
            <a:off x="8737600" y="63871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9" name="Footer Placeholder 6">
            <a:extLst>
              <a:ext uri="{FF2B5EF4-FFF2-40B4-BE49-F238E27FC236}">
                <a16:creationId xmlns:a16="http://schemas.microsoft.com/office/drawing/2014/main" id="{CD7F8BC6-54A0-072E-27EF-EC207F87CAA0}"/>
              </a:ext>
            </a:extLst>
          </p:cNvPr>
          <p:cNvSpPr txBox="1">
            <a:spLocks/>
          </p:cNvSpPr>
          <p:nvPr/>
        </p:nvSpPr>
        <p:spPr>
          <a:xfrm>
            <a:off x="4648200" y="63871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000C0-0177-E24F-BF06-43FAEA6BB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F2AF9BA1-C1CF-C739-44CC-988646FF5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br>
              <a:rPr lang="en-US" sz="2600" b="1" dirty="0">
                <a:solidFill>
                  <a:srgbClr val="1F2D3D"/>
                </a:solidFill>
                <a:latin typeface="Aptos Display"/>
              </a:rPr>
            </a:br>
            <a:r>
              <a:rPr sz="2600" b="1" dirty="0">
                <a:solidFill>
                  <a:srgbClr val="1F2D3D"/>
                </a:solidFill>
                <a:latin typeface="Aptos Display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F2B8D-D487-036D-E62D-86748CC9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ptos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B73ED82-B22F-F563-7453-2E3E6D3B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1FF10F-B10D-9A08-55B6-432E7C540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1F4E79"/>
                </a:solidFill>
                <a:latin typeface="Aptos"/>
              </a:rPr>
              <a:t>CAN IT BE BUILT, VALIDATED AND DEPLOYED?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6FE2C98-9321-C398-00E2-25BF5D393BF5}"/>
              </a:ext>
            </a:extLst>
          </p:cNvPr>
          <p:cNvGrpSpPr/>
          <p:nvPr/>
        </p:nvGrpSpPr>
        <p:grpSpPr>
          <a:xfrm>
            <a:off x="377952" y="1572768"/>
            <a:ext cx="11064239" cy="4297680"/>
            <a:chOff x="548640" y="1188720"/>
            <a:chExt cx="11064239" cy="4297680"/>
          </a:xfrm>
        </p:grpSpPr>
        <p:sp>
          <p:nvSpPr>
            <p:cNvPr id="20" name="Rounded Rectangle 7">
              <a:extLst>
                <a:ext uri="{FF2B5EF4-FFF2-40B4-BE49-F238E27FC236}">
                  <a16:creationId xmlns:a16="http://schemas.microsoft.com/office/drawing/2014/main" id="{F7574BF7-1CC5-2A3A-D91E-C481412F1FFB}"/>
                </a:ext>
              </a:extLst>
            </p:cNvPr>
            <p:cNvSpPr/>
            <p:nvPr/>
          </p:nvSpPr>
          <p:spPr>
            <a:xfrm>
              <a:off x="548640" y="1188720"/>
              <a:ext cx="3474720" cy="4297680"/>
            </a:xfrm>
            <a:prstGeom prst="roundRect">
              <a:avLst/>
            </a:prstGeom>
            <a:solidFill>
              <a:srgbClr val="D9B48C"/>
            </a:solidFill>
            <a:ln>
              <a:solidFill>
                <a:srgbClr val="B48C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0F172A"/>
                  </a:solidFill>
                  <a:latin typeface="Calibri"/>
                </a:defRPr>
              </a:pPr>
              <a:r>
                <a:rPr dirty="0"/>
                <a:t>FEASIBILITY ANALYSIS</a:t>
              </a:r>
              <a:br>
                <a:rPr dirty="0"/>
              </a:br>
              <a:r>
                <a:rPr dirty="0"/>
                <a:t>⭐⭐⭐⭐½</a:t>
              </a:r>
            </a:p>
            <a:p>
              <a:pPr>
                <a:spcBef>
                  <a:spcPts val="400"/>
                </a:spcBef>
              </a:pPr>
              <a:r>
                <a:rPr sz="850" b="1" dirty="0">
                  <a:solidFill>
                    <a:srgbClr val="0F172A"/>
                  </a:solidFill>
                </a:rPr>
                <a:t>Infrastructure Reusability: </a:t>
              </a:r>
              <a:r>
                <a:rPr sz="800" dirty="0">
                  <a:solidFill>
                    <a:srgbClr val="0F172A"/>
                  </a:solidFill>
                </a:rPr>
                <a:t>Leverages existing state GIS portals and open satellite feeds, requiring minimal hardware installation.</a:t>
              </a:r>
            </a:p>
            <a:p>
              <a:pPr>
                <a:spcBef>
                  <a:spcPts val="400"/>
                </a:spcBef>
              </a:pPr>
              <a:r>
                <a:rPr sz="850" b="1" dirty="0">
                  <a:solidFill>
                    <a:srgbClr val="0F172A"/>
                  </a:solidFill>
                </a:rPr>
                <a:t>Scalable Deployment: </a:t>
              </a:r>
              <a:r>
                <a:rPr sz="800" dirty="0">
                  <a:solidFill>
                    <a:srgbClr val="0F172A"/>
                  </a:solidFill>
                </a:rPr>
                <a:t>Can be implemented in high-risk pilot districts (e.g. Wayanad, Mandi) and expanded nationwide as needed.</a:t>
              </a:r>
            </a:p>
            <a:p>
              <a:pPr>
                <a:spcBef>
                  <a:spcPts val="400"/>
                </a:spcBef>
              </a:pPr>
              <a:r>
                <a:rPr sz="850" b="1" dirty="0">
                  <a:solidFill>
                    <a:srgbClr val="0F172A"/>
                  </a:solidFill>
                </a:rPr>
                <a:t>Cost-Effectiveness: </a:t>
              </a:r>
              <a:r>
                <a:rPr sz="800" dirty="0">
                  <a:solidFill>
                    <a:srgbClr val="0F172A"/>
                  </a:solidFill>
                </a:rPr>
                <a:t>Setup cost is near-zero compared to building physical infrastructure or post-disaster rebuilding.</a:t>
              </a:r>
            </a:p>
            <a:p>
              <a:pPr>
                <a:spcBef>
                  <a:spcPts val="400"/>
                </a:spcBef>
              </a:pPr>
              <a:r>
                <a:rPr sz="850" b="1" dirty="0">
                  <a:solidFill>
                    <a:srgbClr val="0F172A"/>
                  </a:solidFill>
                </a:rPr>
                <a:t>Authority Integration: </a:t>
              </a:r>
              <a:r>
                <a:rPr sz="800" dirty="0">
                  <a:solidFill>
                    <a:srgbClr val="0F172A"/>
                  </a:solidFill>
                </a:rPr>
                <a:t>Includes features like SOS alerts, shelter capacity telemetry, and DM manual override for disaster control.</a:t>
              </a:r>
            </a:p>
          </p:txBody>
        </p:sp>
        <p:sp>
          <p:nvSpPr>
            <p:cNvPr id="21" name="Rounded Rectangle 8">
              <a:extLst>
                <a:ext uri="{FF2B5EF4-FFF2-40B4-BE49-F238E27FC236}">
                  <a16:creationId xmlns:a16="http://schemas.microsoft.com/office/drawing/2014/main" id="{8C59D002-BEDF-1F7E-71FD-031901FB3E63}"/>
                </a:ext>
              </a:extLst>
            </p:cNvPr>
            <p:cNvSpPr/>
            <p:nvPr/>
          </p:nvSpPr>
          <p:spPr>
            <a:xfrm>
              <a:off x="4343399" y="1188720"/>
              <a:ext cx="3474720" cy="4297680"/>
            </a:xfrm>
            <a:prstGeom prst="roundRect">
              <a:avLst/>
            </a:prstGeom>
            <a:solidFill>
              <a:srgbClr val="94A3B8"/>
            </a:solidFill>
            <a:ln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0F172A"/>
                  </a:solidFill>
                  <a:latin typeface="Calibri"/>
                </a:defRPr>
              </a:pPr>
              <a:r>
                <a:t>VIABILITY</a:t>
              </a:r>
              <a:br/>
              <a:r>
                <a:t>✔ Proven &amp; Transparent</a:t>
              </a:r>
            </a:p>
            <a:p>
              <a:pPr>
                <a:spcBef>
                  <a:spcPts val="400"/>
                </a:spcBef>
              </a:pPr>
              <a:r>
                <a:rPr sz="850" b="1">
                  <a:solidFill>
                    <a:srgbClr val="0F172A"/>
                  </a:solidFill>
                </a:rPr>
                <a:t>Proven Concept: </a:t>
              </a:r>
              <a:r>
                <a:rPr sz="800">
                  <a:solidFill>
                    <a:srgbClr val="0F172A"/>
                  </a:solidFill>
                </a:rPr>
                <a:t>Leverages the success of GIS + MILP optimization in emergency logistics, demonstrating clear operational viability.</a:t>
              </a:r>
            </a:p>
            <a:p>
              <a:pPr>
                <a:spcBef>
                  <a:spcPts val="400"/>
                </a:spcBef>
              </a:pPr>
              <a:r>
                <a:rPr sz="850" b="1">
                  <a:solidFill>
                    <a:srgbClr val="0F172A"/>
                  </a:solidFill>
                </a:rPr>
                <a:t>Builds Public Trust: </a:t>
              </a:r>
              <a:r>
                <a:rPr sz="800">
                  <a:solidFill>
                    <a:srgbClr val="0F172A"/>
                  </a:solidFill>
                </a:rPr>
                <a:t>Explainable AI (SHAP) minimizes human bias, while transparent metrics provide credible proof for all evacuation orders.</a:t>
              </a:r>
            </a:p>
            <a:p>
              <a:pPr>
                <a:spcBef>
                  <a:spcPts val="400"/>
                </a:spcBef>
              </a:pPr>
              <a:r>
                <a:rPr sz="850" b="1">
                  <a:solidFill>
                    <a:srgbClr val="0F172A"/>
                  </a:solidFill>
                </a:rPr>
                <a:t>Guarantees Accountability: </a:t>
              </a:r>
              <a:r>
                <a:rPr sz="800">
                  <a:solidFill>
                    <a:srgbClr val="0F172A"/>
                  </a:solidFill>
                </a:rPr>
                <a:t>Fosters transparency through detailed logs, shelter manifests, and analytics, ensuring every action is traceable.</a:t>
              </a:r>
            </a:p>
            <a:p>
              <a:pPr>
                <a:spcBef>
                  <a:spcPts val="400"/>
                </a:spcBef>
              </a:pPr>
              <a:r>
                <a:rPr sz="850" b="1">
                  <a:solidFill>
                    <a:srgbClr val="0F172A"/>
                  </a:solidFill>
                </a:rPr>
                <a:t>Ensures Authority Engagement: </a:t>
              </a:r>
              <a:r>
                <a:rPr sz="800">
                  <a:solidFill>
                    <a:srgbClr val="0F172A"/>
                  </a:solidFill>
                </a:rPr>
                <a:t>Real-time GIS dashboards and one-click dispatch alerts keep disaster management teams actively in control.</a:t>
              </a:r>
            </a:p>
          </p:txBody>
        </p:sp>
        <p:sp>
          <p:nvSpPr>
            <p:cNvPr id="22" name="Rounded Rectangle 9">
              <a:extLst>
                <a:ext uri="{FF2B5EF4-FFF2-40B4-BE49-F238E27FC236}">
                  <a16:creationId xmlns:a16="http://schemas.microsoft.com/office/drawing/2014/main" id="{0B3A02DD-E537-ADA2-D080-B1D731C11435}"/>
                </a:ext>
              </a:extLst>
            </p:cNvPr>
            <p:cNvSpPr/>
            <p:nvPr/>
          </p:nvSpPr>
          <p:spPr>
            <a:xfrm>
              <a:off x="8138159" y="1188720"/>
              <a:ext cx="3474720" cy="4297680"/>
            </a:xfrm>
            <a:prstGeom prst="roundRect">
              <a:avLst/>
            </a:prstGeom>
            <a:solidFill>
              <a:srgbClr val="CAA073"/>
            </a:solidFill>
            <a:ln>
              <a:solidFill>
                <a:srgbClr val="A078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0F172A"/>
                  </a:solidFill>
                  <a:latin typeface="Calibri"/>
                </a:defRPr>
              </a:pPr>
              <a:r>
                <a:rPr dirty="0"/>
                <a:t>BUSINESS POTENTIAL</a:t>
              </a:r>
              <a:br>
                <a:rPr dirty="0"/>
              </a:br>
              <a:r>
                <a:rPr dirty="0"/>
                <a:t>&amp; GOVERNMENT SAVINGS</a:t>
              </a:r>
            </a:p>
            <a:p>
              <a:pPr>
                <a:spcBef>
                  <a:spcPts val="800"/>
                </a:spcBef>
              </a:pPr>
              <a:r>
                <a:rPr sz="900" b="1" dirty="0">
                  <a:solidFill>
                    <a:srgbClr val="0F172A"/>
                  </a:solidFill>
                </a:rPr>
                <a:t>Government Cost Savings: </a:t>
              </a:r>
              <a:r>
                <a:rPr sz="850" dirty="0">
                  <a:solidFill>
                    <a:srgbClr val="0F172A"/>
                  </a:solidFill>
                </a:rPr>
                <a:t>Automates evacuation planning to significantly reduce relief logistics overheads and optimize the allocation of NDRF/SDRF personnel.</a:t>
              </a:r>
            </a:p>
            <a:p>
              <a:pPr>
                <a:spcBef>
                  <a:spcPts val="800"/>
                </a:spcBef>
              </a:pPr>
              <a:r>
                <a:rPr sz="900" b="1" dirty="0">
                  <a:solidFill>
                    <a:srgbClr val="0F172A"/>
                  </a:solidFill>
                </a:rPr>
                <a:t>Resource Efficiency &amp; Zero Wastage: </a:t>
              </a:r>
              <a:r>
                <a:rPr sz="850" dirty="0">
                  <a:solidFill>
                    <a:srgbClr val="0F172A"/>
                  </a:solidFill>
                </a:rPr>
                <a:t>Creates direct cost savings through seamless integration with district relief supply chains, eliminating duplicate food/water convoys and preventing secondary evacuations.</a:t>
              </a:r>
            </a:p>
          </p:txBody>
        </p:sp>
      </p:grpSp>
      <p:sp>
        <p:nvSpPr>
          <p:cNvPr id="25" name="Oval 24" descr="Your startup LOGO">
            <a:extLst>
              <a:ext uri="{FF2B5EF4-FFF2-40B4-BE49-F238E27FC236}">
                <a16:creationId xmlns:a16="http://schemas.microsoft.com/office/drawing/2014/main" id="{7D71B451-7464-3D72-2BC7-819A1E7DA7D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77952" y="28804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BharatBytes</a:t>
            </a:r>
            <a:endParaRPr lang="en-IN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EF0F05-0BEE-51A8-2C89-9BB6E1DCC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70640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6D1CED1F-47E0-E870-C873-46ABA1E55D77}"/>
              </a:ext>
            </a:extLst>
          </p:cNvPr>
          <p:cNvSpPr txBox="1">
            <a:spLocks/>
          </p:cNvSpPr>
          <p:nvPr/>
        </p:nvSpPr>
        <p:spPr>
          <a:xfrm>
            <a:off x="8737601" y="637223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8" name="Footer Placeholder 6">
            <a:extLst>
              <a:ext uri="{FF2B5EF4-FFF2-40B4-BE49-F238E27FC236}">
                <a16:creationId xmlns:a16="http://schemas.microsoft.com/office/drawing/2014/main" id="{5D4087EF-2A9B-AB3D-D010-99DCF3247B32}"/>
              </a:ext>
            </a:extLst>
          </p:cNvPr>
          <p:cNvSpPr txBox="1">
            <a:spLocks/>
          </p:cNvSpPr>
          <p:nvPr/>
        </p:nvSpPr>
        <p:spPr>
          <a:xfrm>
            <a:off x="4648201" y="6372231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152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br>
              <a:rPr lang="en-US" sz="2600" b="1" dirty="0">
                <a:solidFill>
                  <a:srgbClr val="1F2D3D"/>
                </a:solidFill>
                <a:latin typeface="Aptos Display"/>
              </a:rPr>
            </a:br>
            <a:r>
              <a:rPr sz="2600" b="1" dirty="0">
                <a:solidFill>
                  <a:srgbClr val="1F2D3D"/>
                </a:solidFill>
                <a:latin typeface="Aptos Display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ptos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BharatBytes</a:t>
            </a:r>
            <a:endParaRPr lang="en-IN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Aptos"/>
              </a:rPr>
              <a:t>FROM RISK MAP → TO ACTION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8D84666-1A4E-4B08-9143-7EBE987AFE43}"/>
              </a:ext>
            </a:extLst>
          </p:cNvPr>
          <p:cNvGrpSpPr/>
          <p:nvPr/>
        </p:nvGrpSpPr>
        <p:grpSpPr>
          <a:xfrm>
            <a:off x="457200" y="1494258"/>
            <a:ext cx="11155680" cy="5120640"/>
            <a:chOff x="548640" y="1097280"/>
            <a:chExt cx="11155680" cy="512064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CC0EBEC-9C76-3198-8375-E4184CD4BD56}"/>
                </a:ext>
              </a:extLst>
            </p:cNvPr>
            <p:cNvSpPr/>
            <p:nvPr/>
          </p:nvSpPr>
          <p:spPr>
            <a:xfrm>
              <a:off x="2743200" y="2651760"/>
              <a:ext cx="1463040" cy="146304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B365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>
                  <a:solidFill>
                    <a:srgbClr val="1B365D"/>
                  </a:solidFill>
                  <a:latin typeface="Calibri"/>
                </a:defRPr>
              </a:pPr>
              <a:r>
                <a:t>IMPACTS</a:t>
              </a:r>
              <a:br/>
              <a:r>
                <a:t>&amp;</a:t>
              </a:r>
              <a:br/>
              <a:r>
                <a:t>BENEFITS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E73760E-7191-23BF-E60D-CD1B178F0BD3}"/>
                </a:ext>
              </a:extLst>
            </p:cNvPr>
            <p:cNvSpPr/>
            <p:nvPr/>
          </p:nvSpPr>
          <p:spPr>
            <a:xfrm>
              <a:off x="2103120" y="1325880"/>
              <a:ext cx="411480" cy="411480"/>
            </a:xfrm>
            <a:prstGeom prst="ellipse">
              <a:avLst/>
            </a:prstGeom>
            <a:solidFill>
              <a:srgbClr val="E2E8F0"/>
            </a:solidFill>
            <a:ln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/>
              </a:pPr>
              <a:r>
                <a:t>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03F4CC3-9F54-32EE-78BB-4D2C346F2502}"/>
                </a:ext>
              </a:extLst>
            </p:cNvPr>
            <p:cNvSpPr txBox="1"/>
            <p:nvPr/>
          </p:nvSpPr>
          <p:spPr>
            <a:xfrm>
              <a:off x="548640" y="118872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rPr dirty="0"/>
                <a:t>Reduced Latency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rPr dirty="0"/>
                <a:t>Reduces evacuation decision time by 95% (72h to &lt;2h), improving response mobility.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0123053-DA5E-8142-7443-31EFF687D7C9}"/>
                </a:ext>
              </a:extLst>
            </p:cNvPr>
            <p:cNvSpPr/>
            <p:nvPr/>
          </p:nvSpPr>
          <p:spPr>
            <a:xfrm>
              <a:off x="2103120" y="2514600"/>
              <a:ext cx="411480" cy="411480"/>
            </a:xfrm>
            <a:prstGeom prst="ellipse">
              <a:avLst/>
            </a:prstGeom>
            <a:solidFill>
              <a:srgbClr val="E2E8F0"/>
            </a:solidFill>
            <a:ln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/>
              </a:pPr>
              <a:r>
                <a:t>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AAE2062-4C11-9F4D-AD9F-964488C4F395}"/>
                </a:ext>
              </a:extLst>
            </p:cNvPr>
            <p:cNvSpPr txBox="1"/>
            <p:nvPr/>
          </p:nvSpPr>
          <p:spPr>
            <a:xfrm>
              <a:off x="548640" y="237744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Faster Response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t>Saves crucial emergency time by giving vulnerable habitations priority routing.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3F6BB8E-4636-DF91-188A-0C153E5809D3}"/>
                </a:ext>
              </a:extLst>
            </p:cNvPr>
            <p:cNvSpPr/>
            <p:nvPr/>
          </p:nvSpPr>
          <p:spPr>
            <a:xfrm>
              <a:off x="2103120" y="3703320"/>
              <a:ext cx="411480" cy="411480"/>
            </a:xfrm>
            <a:prstGeom prst="ellipse">
              <a:avLst/>
            </a:prstGeom>
            <a:solidFill>
              <a:srgbClr val="E2E8F0"/>
            </a:solidFill>
            <a:ln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/>
              </a:pPr>
              <a:r>
                <a:t>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7818670-15BE-5190-AE0C-FA86646DF9C0}"/>
                </a:ext>
              </a:extLst>
            </p:cNvPr>
            <p:cNvSpPr txBox="1"/>
            <p:nvPr/>
          </p:nvSpPr>
          <p:spPr>
            <a:xfrm>
              <a:off x="548640" y="356616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rPr dirty="0"/>
                <a:t>Lower Relief Waste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rPr dirty="0"/>
                <a:t>Cuts relief material wastage, leading to lower costs and zero shelter stockouts.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1D57D49-9DC0-E4D0-A77A-F8C6C905FCD2}"/>
                </a:ext>
              </a:extLst>
            </p:cNvPr>
            <p:cNvSpPr/>
            <p:nvPr/>
          </p:nvSpPr>
          <p:spPr>
            <a:xfrm>
              <a:off x="2103120" y="4892040"/>
              <a:ext cx="411480" cy="411480"/>
            </a:xfrm>
            <a:prstGeom prst="ellipse">
              <a:avLst/>
            </a:prstGeom>
            <a:solidFill>
              <a:srgbClr val="E2E8F0"/>
            </a:solidFill>
            <a:ln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/>
              </a:pPr>
              <a: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4DA1ECC-ECC4-FA5E-6E29-3CB7A0AF39C5}"/>
                </a:ext>
              </a:extLst>
            </p:cNvPr>
            <p:cNvSpPr txBox="1"/>
            <p:nvPr/>
          </p:nvSpPr>
          <p:spPr>
            <a:xfrm>
              <a:off x="548640" y="475488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Emergency Alerts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t>Supports SDMA &amp; district administration with real-time alerts for red zones &amp; road cuts.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C6D8458-94DB-8C3D-A5E8-09A2D4EB3D00}"/>
                </a:ext>
              </a:extLst>
            </p:cNvPr>
            <p:cNvSpPr/>
            <p:nvPr/>
          </p:nvSpPr>
          <p:spPr>
            <a:xfrm>
              <a:off x="4297680" y="1325880"/>
              <a:ext cx="411480" cy="411480"/>
            </a:xfrm>
            <a:prstGeom prst="ellipse">
              <a:avLst/>
            </a:prstGeom>
            <a:solidFill>
              <a:srgbClr val="1B36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>
                  <a:solidFill>
                    <a:srgbClr val="FFFFFF"/>
                  </a:solidFill>
                </a:defRPr>
              </a:pPr>
              <a:r>
                <a:t>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735A6A9-C29F-C3BA-1EA6-F1C3127C4533}"/>
                </a:ext>
              </a:extLst>
            </p:cNvPr>
            <p:cNvSpPr txBox="1"/>
            <p:nvPr/>
          </p:nvSpPr>
          <p:spPr>
            <a:xfrm>
              <a:off x="4754880" y="118872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Safety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t>Quicker emergency response, safer relocation, zero abandoned vulnerable citizens.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83991C7-FB00-7663-FF21-0ED020107BF6}"/>
                </a:ext>
              </a:extLst>
            </p:cNvPr>
            <p:cNvSpPr/>
            <p:nvPr/>
          </p:nvSpPr>
          <p:spPr>
            <a:xfrm>
              <a:off x="4297680" y="2514600"/>
              <a:ext cx="411480" cy="411480"/>
            </a:xfrm>
            <a:prstGeom prst="ellipse">
              <a:avLst/>
            </a:prstGeom>
            <a:solidFill>
              <a:srgbClr val="1B36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>
                  <a:solidFill>
                    <a:srgbClr val="FFFFFF"/>
                  </a:solidFill>
                </a:defRPr>
              </a:pPr>
              <a: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5CABA44-E743-88A4-8FDE-2D16F339B6CC}"/>
                </a:ext>
              </a:extLst>
            </p:cNvPr>
            <p:cNvSpPr txBox="1"/>
            <p:nvPr/>
          </p:nvSpPr>
          <p:spPr>
            <a:xfrm>
              <a:off x="4754880" y="237744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Economic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t>Time optimization, relief cost savings, improved disaster logistics productivity.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630F85-708B-D419-5B6A-B36906292497}"/>
                </a:ext>
              </a:extLst>
            </p:cNvPr>
            <p:cNvSpPr/>
            <p:nvPr/>
          </p:nvSpPr>
          <p:spPr>
            <a:xfrm>
              <a:off x="4297680" y="3703320"/>
              <a:ext cx="411480" cy="411480"/>
            </a:xfrm>
            <a:prstGeom prst="ellipse">
              <a:avLst/>
            </a:prstGeom>
            <a:solidFill>
              <a:srgbClr val="1B36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>
                  <a:solidFill>
                    <a:srgbClr val="FFFFFF"/>
                  </a:solidFill>
                </a:defRPr>
              </a:pPr>
              <a:r>
                <a:t>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4FB86A6-956E-EC4C-E43D-48564AC8C04D}"/>
                </a:ext>
              </a:extLst>
            </p:cNvPr>
            <p:cNvSpPr txBox="1"/>
            <p:nvPr/>
          </p:nvSpPr>
          <p:spPr>
            <a:xfrm>
              <a:off x="4754880" y="356616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Environmental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t>Reduced post-disaster contamination, sustainable shelter carrying capacity.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CFD7083-7751-E746-6F48-C42CB0114B23}"/>
                </a:ext>
              </a:extLst>
            </p:cNvPr>
            <p:cNvSpPr/>
            <p:nvPr/>
          </p:nvSpPr>
          <p:spPr>
            <a:xfrm>
              <a:off x="4297680" y="4892040"/>
              <a:ext cx="411480" cy="411480"/>
            </a:xfrm>
            <a:prstGeom prst="ellipse">
              <a:avLst/>
            </a:prstGeom>
            <a:solidFill>
              <a:srgbClr val="1B36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>
                  <a:solidFill>
                    <a:srgbClr val="FFFFFF"/>
                  </a:solidFill>
                </a:defRPr>
              </a:pPr>
              <a:r>
                <a:t>4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DB9AA2-0375-F6F4-573D-AA46DB2ECCC5}"/>
                </a:ext>
              </a:extLst>
            </p:cNvPr>
            <p:cNvSpPr txBox="1"/>
            <p:nvPr/>
          </p:nvSpPr>
          <p:spPr>
            <a:xfrm>
              <a:off x="4754880" y="475488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Technology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t>Smart automation, real-time monitoring, AI-driven disaster management.</a:t>
              </a:r>
            </a:p>
          </p:txBody>
        </p:sp>
        <p:pic>
          <p:nvPicPr>
            <p:cNvPr id="35" name="Picture 34" descr="template_bar_chart.png">
              <a:extLst>
                <a:ext uri="{FF2B5EF4-FFF2-40B4-BE49-F238E27FC236}">
                  <a16:creationId xmlns:a16="http://schemas.microsoft.com/office/drawing/2014/main" id="{988B158D-F4D7-733D-0390-D0BE71123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0800" y="1097280"/>
              <a:ext cx="5303520" cy="301752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3894823-C935-50B6-E376-5EEB1596393E}"/>
                </a:ext>
              </a:extLst>
            </p:cNvPr>
            <p:cNvSpPr txBox="1"/>
            <p:nvPr/>
          </p:nvSpPr>
          <p:spPr>
            <a:xfrm>
              <a:off x="6400800" y="4206240"/>
              <a:ext cx="53035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1B365D"/>
                  </a:solidFill>
                </a:defRPr>
              </a:pPr>
              <a:r>
                <a:t>From Chaotic Evacuation ➔ Safe Relocation</a:t>
              </a:r>
            </a:p>
          </p:txBody>
        </p:sp>
        <p:pic>
          <p:nvPicPr>
            <p:cNvPr id="37" name="Picture 36" descr="before_after.png">
              <a:extLst>
                <a:ext uri="{FF2B5EF4-FFF2-40B4-BE49-F238E27FC236}">
                  <a16:creationId xmlns:a16="http://schemas.microsoft.com/office/drawing/2014/main" id="{76F1FE52-04DA-DECA-2D8A-2D9CB9007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0800" y="4572000"/>
              <a:ext cx="5303520" cy="1645920"/>
            </a:xfrm>
            <a:prstGeom prst="rect">
              <a:avLst/>
            </a:prstGeom>
          </p:spPr>
        </p:pic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F9AA4198-11A4-323A-D91E-635262C95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8665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1F05C38D-72EE-2D50-955D-A4F9B2048AFA}"/>
              </a:ext>
            </a:extLst>
          </p:cNvPr>
          <p:cNvSpPr txBox="1">
            <a:spLocks/>
          </p:cNvSpPr>
          <p:nvPr/>
        </p:nvSpPr>
        <p:spPr>
          <a:xfrm>
            <a:off x="8737600" y="636025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0" name="Footer Placeholder 6">
            <a:extLst>
              <a:ext uri="{FF2B5EF4-FFF2-40B4-BE49-F238E27FC236}">
                <a16:creationId xmlns:a16="http://schemas.microsoft.com/office/drawing/2014/main" id="{773DEEEB-4146-D804-1D80-684445FA8626}"/>
              </a:ext>
            </a:extLst>
          </p:cNvPr>
          <p:cNvSpPr txBox="1">
            <a:spLocks/>
          </p:cNvSpPr>
          <p:nvPr/>
        </p:nvSpPr>
        <p:spPr>
          <a:xfrm>
            <a:off x="4648200" y="6360256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B61EA-6FE1-9002-3399-11E28E904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A992C3A2-187A-92B1-17C1-0E8838185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br>
              <a:rPr lang="en-US" sz="2600" b="1" dirty="0">
                <a:solidFill>
                  <a:srgbClr val="1F2D3D"/>
                </a:solidFill>
                <a:latin typeface="Aptos Display"/>
              </a:rPr>
            </a:br>
            <a:r>
              <a:rPr sz="2600" b="1" dirty="0">
                <a:solidFill>
                  <a:srgbClr val="1F2D3D"/>
                </a:solidFill>
                <a:latin typeface="Aptos Display"/>
              </a:rPr>
              <a:t>RESEARCH &amp; 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580A6-FE51-EE1D-A18A-71FA55E3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ptos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8A36462-5773-C9B6-24F3-298782B0B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401E40EA-B28C-48ED-11EA-0A5622BD14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000000"/>
                </a:solidFill>
                <a:latin typeface="Aptos"/>
              </a:rPr>
              <a:t>YOUR TEAM NAME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E2BBEB-B13A-8D8A-11DE-901AEAC3A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1F4E79"/>
                </a:solidFill>
                <a:latin typeface="Aptos"/>
              </a:rPr>
              <a:t>KEY RESEARCH + DATA / TECHNOLOGY REFERENCES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649826-4E1A-A1DD-ED9B-15D2EAE968B6}"/>
              </a:ext>
            </a:extLst>
          </p:cNvPr>
          <p:cNvGrpSpPr/>
          <p:nvPr/>
        </p:nvGrpSpPr>
        <p:grpSpPr>
          <a:xfrm>
            <a:off x="458723" y="1425832"/>
            <a:ext cx="11109960" cy="4709160"/>
            <a:chOff x="548640" y="1188720"/>
            <a:chExt cx="11109960" cy="4709160"/>
          </a:xfrm>
        </p:grpSpPr>
        <p:sp>
          <p:nvSpPr>
            <p:cNvPr id="5" name="Rounded Rectangle 7">
              <a:extLst>
                <a:ext uri="{FF2B5EF4-FFF2-40B4-BE49-F238E27FC236}">
                  <a16:creationId xmlns:a16="http://schemas.microsoft.com/office/drawing/2014/main" id="{822AC5C4-260E-C91B-907C-2DC0669DDAEA}"/>
                </a:ext>
              </a:extLst>
            </p:cNvPr>
            <p:cNvSpPr/>
            <p:nvPr/>
          </p:nvSpPr>
          <p:spPr>
            <a:xfrm>
              <a:off x="548640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ISRO NDEM</a:t>
              </a:r>
            </a:p>
            <a:p>
              <a:pPr algn="ctr">
                <a:defRPr sz="680">
                  <a:solidFill>
                    <a:srgbClr val="0F172A"/>
                  </a:solidFill>
                </a:defRPr>
              </a:pPr>
              <a:r>
                <a:t>Satellite Multi-Hazard &amp; DEM Data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8" name="Rounded Rectangle 8">
              <a:extLst>
                <a:ext uri="{FF2B5EF4-FFF2-40B4-BE49-F238E27FC236}">
                  <a16:creationId xmlns:a16="http://schemas.microsoft.com/office/drawing/2014/main" id="{18119AA9-041E-020E-9435-E00234A1D4FF}"/>
                </a:ext>
              </a:extLst>
            </p:cNvPr>
            <p:cNvSpPr/>
            <p:nvPr/>
          </p:nvSpPr>
          <p:spPr>
            <a:xfrm>
              <a:off x="2130552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NDMA SOPs</a:t>
              </a:r>
            </a:p>
            <a:p>
              <a:pPr algn="ctr">
                <a:defRPr sz="680">
                  <a:solidFill>
                    <a:srgbClr val="0F172A"/>
                  </a:solidFill>
                </a:defRPr>
              </a:pPr>
              <a:r>
                <a:t>National Evacuation &amp; Shelter Standards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A21F9BA9-5BAC-7ED1-B691-E76AA989F4AE}"/>
                </a:ext>
              </a:extLst>
            </p:cNvPr>
            <p:cNvSpPr/>
            <p:nvPr/>
          </p:nvSpPr>
          <p:spPr>
            <a:xfrm>
              <a:off x="3712463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Cutter (SoVI)</a:t>
              </a:r>
            </a:p>
            <a:p>
              <a:pPr algn="ctr">
                <a:defRPr sz="680">
                  <a:solidFill>
                    <a:srgbClr val="0F172A"/>
                  </a:solidFill>
                </a:defRPr>
              </a:pPr>
              <a:r>
                <a:t>Social Vulnerability Index Modeling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6C1518D3-CD7B-D1E7-3A18-E24D9BD661DC}"/>
                </a:ext>
              </a:extLst>
            </p:cNvPr>
            <p:cNvSpPr/>
            <p:nvPr/>
          </p:nvSpPr>
          <p:spPr>
            <a:xfrm>
              <a:off x="5294375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Google OR-Tools</a:t>
              </a:r>
            </a:p>
            <a:p>
              <a:pPr algn="ctr">
                <a:defRPr sz="680">
                  <a:solidFill>
                    <a:srgbClr val="0F172A"/>
                  </a:solidFill>
                </a:defRPr>
              </a:pPr>
              <a:r>
                <a:t>Capacity-Constrained Relocation Optimizer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3" name="Rounded Rectangle 11">
              <a:extLst>
                <a:ext uri="{FF2B5EF4-FFF2-40B4-BE49-F238E27FC236}">
                  <a16:creationId xmlns:a16="http://schemas.microsoft.com/office/drawing/2014/main" id="{349C599F-92C2-A995-688F-62C88071910B}"/>
                </a:ext>
              </a:extLst>
            </p:cNvPr>
            <p:cNvSpPr/>
            <p:nvPr/>
          </p:nvSpPr>
          <p:spPr>
            <a:xfrm>
              <a:off x="6876288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ScienceDirect</a:t>
              </a:r>
            </a:p>
            <a:p>
              <a:pPr algn="ctr">
                <a:defRPr sz="680">
                  <a:solidFill>
                    <a:srgbClr val="0F172A"/>
                  </a:solidFill>
                </a:defRPr>
              </a:pPr>
              <a:r>
                <a:t>GIS Multi-Hazard Zonation &amp; MCDM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4" name="Rounded Rectangle 12">
              <a:extLst>
                <a:ext uri="{FF2B5EF4-FFF2-40B4-BE49-F238E27FC236}">
                  <a16:creationId xmlns:a16="http://schemas.microsoft.com/office/drawing/2014/main" id="{8E3F8E62-7929-2214-9A69-BE848C19F0C4}"/>
                </a:ext>
              </a:extLst>
            </p:cNvPr>
            <p:cNvSpPr/>
            <p:nvPr/>
          </p:nvSpPr>
          <p:spPr>
            <a:xfrm>
              <a:off x="8458200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Lundberg (SHAP)</a:t>
              </a:r>
            </a:p>
            <a:p>
              <a:pPr algn="ctr">
                <a:defRPr sz="680">
                  <a:solidFill>
                    <a:srgbClr val="0F172A"/>
                  </a:solidFill>
                </a:defRPr>
              </a:pPr>
              <a:r>
                <a:t>Explainable AI in Public Decisions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5" name="Rounded Rectangle 13">
              <a:extLst>
                <a:ext uri="{FF2B5EF4-FFF2-40B4-BE49-F238E27FC236}">
                  <a16:creationId xmlns:a16="http://schemas.microsoft.com/office/drawing/2014/main" id="{B37700B5-D1A2-951B-5C3C-F85FAC04EBC2}"/>
                </a:ext>
              </a:extLst>
            </p:cNvPr>
            <p:cNvSpPr/>
            <p:nvPr/>
          </p:nvSpPr>
          <p:spPr>
            <a:xfrm>
              <a:off x="10040111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OpenStreetMap</a:t>
              </a:r>
            </a:p>
            <a:p>
              <a:pPr algn="ctr">
                <a:defRPr sz="680">
                  <a:solidFill>
                    <a:srgbClr val="0F172A"/>
                  </a:solidFill>
                </a:defRPr>
              </a:pPr>
              <a:r>
                <a:t>Road Inundation &amp; Accessibility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96498E-3E91-4DEE-7458-2582A71A9DDD}"/>
                </a:ext>
              </a:extLst>
            </p:cNvPr>
            <p:cNvSpPr txBox="1"/>
            <p:nvPr/>
          </p:nvSpPr>
          <p:spPr>
            <a:xfrm>
              <a:off x="9601200" y="2788920"/>
              <a:ext cx="2011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600" b="1">
                  <a:solidFill>
                    <a:srgbClr val="94A3B8"/>
                  </a:solidFill>
                </a:defRPr>
              </a:pPr>
              <a:r>
                <a:t>UI/UX</a:t>
              </a:r>
            </a:p>
          </p:txBody>
        </p:sp>
        <p:pic>
          <p:nvPicPr>
            <p:cNvPr id="17" name="Picture 16" descr="ui_screen_1.png">
              <a:extLst>
                <a:ext uri="{FF2B5EF4-FFF2-40B4-BE49-F238E27FC236}">
                  <a16:creationId xmlns:a16="http://schemas.microsoft.com/office/drawing/2014/main" id="{CD6C594B-D175-FD3C-A26B-60D5E3873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640" y="3108960"/>
              <a:ext cx="3520440" cy="219456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90F2764-8875-5A9D-99D6-F753301DF0BA}"/>
                </a:ext>
              </a:extLst>
            </p:cNvPr>
            <p:cNvSpPr txBox="1"/>
            <p:nvPr/>
          </p:nvSpPr>
          <p:spPr>
            <a:xfrm>
              <a:off x="548640" y="5349240"/>
              <a:ext cx="35204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1. Dynamic Red-Zone Portal (Zone Heatmap &amp; Risk Scores)</a:t>
              </a:r>
            </a:p>
          </p:txBody>
        </p:sp>
        <p:pic>
          <p:nvPicPr>
            <p:cNvPr id="19" name="Picture 18" descr="ui_screen_2.png">
              <a:extLst>
                <a:ext uri="{FF2B5EF4-FFF2-40B4-BE49-F238E27FC236}">
                  <a16:creationId xmlns:a16="http://schemas.microsoft.com/office/drawing/2014/main" id="{9BCAD86C-EBDA-AED5-7202-7B625DDE6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43400" y="3108960"/>
              <a:ext cx="3520440" cy="219456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7AC3C7A-0279-FC0A-6D52-75595CF0586A}"/>
                </a:ext>
              </a:extLst>
            </p:cNvPr>
            <p:cNvSpPr txBox="1"/>
            <p:nvPr/>
          </p:nvSpPr>
          <p:spPr>
            <a:xfrm>
              <a:off x="4343400" y="5349240"/>
              <a:ext cx="35204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2. Safe Shelter Carrying Capacity Matrix (Live Bed &amp; Ration Tracking)</a:t>
              </a:r>
            </a:p>
          </p:txBody>
        </p:sp>
        <p:pic>
          <p:nvPicPr>
            <p:cNvPr id="21" name="Picture 20" descr="ui_screen_3.png">
              <a:extLst>
                <a:ext uri="{FF2B5EF4-FFF2-40B4-BE49-F238E27FC236}">
                  <a16:creationId xmlns:a16="http://schemas.microsoft.com/office/drawing/2014/main" id="{0E4B242E-2042-D21F-DF2B-F93456195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8160" y="3108960"/>
              <a:ext cx="3520440" cy="219456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86AC85-55A2-B26D-47B0-71197051CC07}"/>
                </a:ext>
              </a:extLst>
            </p:cNvPr>
            <p:cNvSpPr txBox="1"/>
            <p:nvPr/>
          </p:nvSpPr>
          <p:spPr>
            <a:xfrm>
              <a:off x="8138160" y="5349240"/>
              <a:ext cx="35204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3. Emergency SOS &amp; SDMA Dispatch Console (One-Click Broadcast)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4691FF2D-51F5-D3FC-0074-60C6B077C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32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059D6776-4F50-72DA-61DA-4B4EF925AED4}"/>
              </a:ext>
            </a:extLst>
          </p:cNvPr>
          <p:cNvSpPr txBox="1">
            <a:spLocks/>
          </p:cNvSpPr>
          <p:nvPr/>
        </p:nvSpPr>
        <p:spPr>
          <a:xfrm>
            <a:off x="8737600" y="63548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5" name="Footer Placeholder 6">
            <a:extLst>
              <a:ext uri="{FF2B5EF4-FFF2-40B4-BE49-F238E27FC236}">
                <a16:creationId xmlns:a16="http://schemas.microsoft.com/office/drawing/2014/main" id="{88443F13-7D41-6B42-6D3C-1E6FF5801544}"/>
              </a:ext>
            </a:extLst>
          </p:cNvPr>
          <p:cNvSpPr txBox="1">
            <a:spLocks/>
          </p:cNvSpPr>
          <p:nvPr/>
        </p:nvSpPr>
        <p:spPr>
          <a:xfrm>
            <a:off x="4648200" y="63548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757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7570</TotalTime>
  <Words>1139</Words>
  <Application>Microsoft Office PowerPoint</Application>
  <PresentationFormat>Widescreen</PresentationFormat>
  <Paragraphs>191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Aptos Display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 TECHNICAL APPROACH</vt:lpstr>
      <vt:lpstr> FEASIBILITY AND VIABILITY</vt:lpstr>
      <vt:lpstr> IMPACT AND BENEFITS</vt:lpstr>
      <vt:lpstr> RESEARCH &amp;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Tammana Mallikharjuna</cp:lastModifiedBy>
  <cp:revision>159</cp:revision>
  <dcterms:created xsi:type="dcterms:W3CDTF">2013-12-12T18:46:50Z</dcterms:created>
  <dcterms:modified xsi:type="dcterms:W3CDTF">2026-08-28T15:07:12Z</dcterms:modified>
  <cp:category/>
</cp:coreProperties>
</file>